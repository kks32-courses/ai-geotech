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5"/>
    <p:sldMasterId id="2147483656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y="5143500" cx="9144000"/>
  <p:notesSz cx="6858000" cy="9313850"/>
  <p:embeddedFontLst>
    <p:embeddedFont>
      <p:font typeface="Roboto"/>
      <p:regular r:id="rId45"/>
      <p:bold r:id="rId46"/>
      <p:italic r:id="rId47"/>
      <p:boldItalic r:id="rId48"/>
    </p:embeddedFont>
    <p:embeddedFont>
      <p:font typeface="Arial Black"/>
      <p:regular r:id="rId4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50" roundtripDataSignature="AMtx7mhdKPByrI3EhgF2kWjMLoh0Ju4+5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81D43BA-6141-4454-86F5-6EDCB21AD3FA}">
  <a:tblStyle styleId="{381D43BA-6141-4454-86F5-6EDCB21AD3F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665FD6A1-DC4D-412C-8A23-0941D8763586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fill>
          <a:solidFill>
            <a:srgbClr val="CDD4EA"/>
          </a:solidFill>
        </a:fill>
      </a:tcStyle>
    </a:band1H>
    <a:band2H>
      <a:tcTxStyle/>
    </a:band2H>
    <a:band1V>
      <a:tcTxStyle/>
      <a:tcStyle>
        <a:fill>
          <a:solidFill>
            <a:srgbClr val="CDD4EA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472C4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472C4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4472C4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4472C4"/>
          </a:solidFill>
        </a:fill>
      </a:tcStyle>
    </a:firstRow>
    <a:neCell>
      <a:tcTxStyle/>
    </a:neCell>
    <a:nwCell>
      <a:tcTxStyle/>
    </a:nwCell>
  </a:tblStyle>
  <a:tblStyle styleId="{154A8317-BDE1-4527-A689-9862FD0966E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font" Target="fonts/Roboto-bold.fntdata"/><Relationship Id="rId45" Type="http://schemas.openxmlformats.org/officeDocument/2006/relationships/font" Target="fonts/Roboto-regular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font" Target="fonts/Roboto-boldItalic.fntdata"/><Relationship Id="rId47" Type="http://schemas.openxmlformats.org/officeDocument/2006/relationships/font" Target="fonts/Roboto-italic.fntdata"/><Relationship Id="rId49" Type="http://schemas.openxmlformats.org/officeDocument/2006/relationships/font" Target="fonts/ArialBlack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0" Type="http://customschemas.google.com/relationships/presentationmetadata" Target="meta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65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650" lIns="91325" spcFirstLastPara="1" rIns="91325" wrap="square" tIns="4565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65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650" lIns="91325" spcFirstLastPara="1" rIns="91325" wrap="square" tIns="4565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27025" y="700088"/>
            <a:ext cx="6203950" cy="34909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24085"/>
            <a:ext cx="5486400" cy="4191238"/>
          </a:xfrm>
          <a:prstGeom prst="rect">
            <a:avLst/>
          </a:prstGeom>
          <a:noFill/>
          <a:ln>
            <a:noFill/>
          </a:ln>
        </p:spPr>
        <p:txBody>
          <a:bodyPr anchorCtr="0" anchor="t" bIns="45650" lIns="91325" spcFirstLastPara="1" rIns="91325" wrap="square" tIns="4565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846554"/>
            <a:ext cx="2971800" cy="465693"/>
          </a:xfrm>
          <a:prstGeom prst="rect">
            <a:avLst/>
          </a:prstGeom>
          <a:noFill/>
          <a:ln>
            <a:noFill/>
          </a:ln>
        </p:spPr>
        <p:txBody>
          <a:bodyPr anchorCtr="0" anchor="b" bIns="45650" lIns="91325" spcFirstLastPara="1" rIns="91325" wrap="square" tIns="4565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846554"/>
            <a:ext cx="2971800" cy="465693"/>
          </a:xfrm>
          <a:prstGeom prst="rect">
            <a:avLst/>
          </a:prstGeom>
          <a:noFill/>
          <a:ln>
            <a:noFill/>
          </a:ln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:notes"/>
          <p:cNvSpPr/>
          <p:nvPr>
            <p:ph idx="2" type="sldImg"/>
          </p:nvPr>
        </p:nvSpPr>
        <p:spPr>
          <a:xfrm>
            <a:off x="327025" y="700088"/>
            <a:ext cx="6203950" cy="34909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08" name="Google Shape;108;p1:notes"/>
          <p:cNvSpPr txBox="1"/>
          <p:nvPr>
            <p:ph idx="1" type="body"/>
          </p:nvPr>
        </p:nvSpPr>
        <p:spPr>
          <a:xfrm>
            <a:off x="685800" y="4424085"/>
            <a:ext cx="5486400" cy="4191238"/>
          </a:xfrm>
          <a:prstGeom prst="rect">
            <a:avLst/>
          </a:prstGeom>
          <a:noFill/>
          <a:ln>
            <a:noFill/>
          </a:ln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:notes"/>
          <p:cNvSpPr txBox="1"/>
          <p:nvPr>
            <p:ph idx="12" type="sldNum"/>
          </p:nvPr>
        </p:nvSpPr>
        <p:spPr>
          <a:xfrm>
            <a:off x="3884613" y="8846554"/>
            <a:ext cx="2971800" cy="465693"/>
          </a:xfrm>
          <a:prstGeom prst="rect">
            <a:avLst/>
          </a:prstGeom>
          <a:noFill/>
          <a:ln>
            <a:noFill/>
          </a:ln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a0d244dc93_0_300:notes"/>
          <p:cNvSpPr/>
          <p:nvPr>
            <p:ph idx="2" type="sldImg"/>
          </p:nvPr>
        </p:nvSpPr>
        <p:spPr>
          <a:xfrm>
            <a:off x="381300" y="698539"/>
            <a:ext cx="6096000" cy="3492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a0d244dc93_0_300:notes"/>
          <p:cNvSpPr txBox="1"/>
          <p:nvPr>
            <p:ph idx="1" type="body"/>
          </p:nvPr>
        </p:nvSpPr>
        <p:spPr>
          <a:xfrm>
            <a:off x="685800" y="4424079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0d244dc93_0_318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0d244dc93_0_318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a0d244dc93_0_318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0d244dc93_0_327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a0d244dc93_0_327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a0d244dc93_0_327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a0d244dc93_0_338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a0d244dc93_0_338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g3a0d244dc93_0_338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0d244dc93_0_346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0d244dc93_0_346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g3a0d244dc93_0_346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a0d244dc93_0_362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a0d244dc93_0_362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g3a0d244dc93_0_362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a0d244dc93_0_310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a0d244dc93_0_310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g3a0d244dc93_0_310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a0d244dc93_0_382:notes"/>
          <p:cNvSpPr txBox="1"/>
          <p:nvPr>
            <p:ph idx="1" type="body"/>
          </p:nvPr>
        </p:nvSpPr>
        <p:spPr>
          <a:xfrm>
            <a:off x="685800" y="4482290"/>
            <a:ext cx="5486400" cy="36675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g3a0d244dc93_0_382:notes"/>
          <p:cNvSpPr/>
          <p:nvPr>
            <p:ph idx="2" type="sldImg"/>
          </p:nvPr>
        </p:nvSpPr>
        <p:spPr>
          <a:xfrm>
            <a:off x="685800" y="1164231"/>
            <a:ext cx="5486400" cy="3143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a0d244dc93_0_390:notes"/>
          <p:cNvSpPr txBox="1"/>
          <p:nvPr>
            <p:ph idx="1" type="body"/>
          </p:nvPr>
        </p:nvSpPr>
        <p:spPr>
          <a:xfrm>
            <a:off x="685800" y="4482290"/>
            <a:ext cx="5486400" cy="36675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g3a0d244dc93_0_390:notes"/>
          <p:cNvSpPr/>
          <p:nvPr>
            <p:ph idx="2" type="sldImg"/>
          </p:nvPr>
        </p:nvSpPr>
        <p:spPr>
          <a:xfrm>
            <a:off x="685800" y="1164231"/>
            <a:ext cx="5486400" cy="3143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a0d244dc93_0_376:notes"/>
          <p:cNvSpPr/>
          <p:nvPr>
            <p:ph idx="2" type="sldImg"/>
          </p:nvPr>
        </p:nvSpPr>
        <p:spPr>
          <a:xfrm>
            <a:off x="381300" y="698539"/>
            <a:ext cx="6096000" cy="3492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a0d244dc93_0_376:notes"/>
          <p:cNvSpPr txBox="1"/>
          <p:nvPr>
            <p:ph idx="1" type="body"/>
          </p:nvPr>
        </p:nvSpPr>
        <p:spPr>
          <a:xfrm>
            <a:off x="685800" y="4424079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a0d244dc93_0_537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a0d244dc93_0_537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g3a0d244dc93_0_537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a0d244dc93_0_671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3a0d244dc93_0_671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3a0d244dc93_0_671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a0d244dc93_0_686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a0d244dc93_0_686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g3a0d244dc93_0_686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a0d244dc93_0_694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a0d244dc93_0_694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g3a0d244dc93_0_694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0d244dc93_0_762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a0d244dc93_0_762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g3a0d244dc93_0_762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a0d244dc93_0_159:notes"/>
          <p:cNvSpPr/>
          <p:nvPr>
            <p:ph idx="2" type="sldImg"/>
          </p:nvPr>
        </p:nvSpPr>
        <p:spPr>
          <a:xfrm>
            <a:off x="381300" y="698539"/>
            <a:ext cx="6096000" cy="3492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a0d244dc93_0_159:notes"/>
          <p:cNvSpPr txBox="1"/>
          <p:nvPr>
            <p:ph idx="1" type="body"/>
          </p:nvPr>
        </p:nvSpPr>
        <p:spPr>
          <a:xfrm>
            <a:off x="685800" y="4424079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a0d244dc93_0_781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a0d244dc93_0_781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g3a0d244dc93_0_781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a0d244dc93_0_915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a0d244dc93_0_915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g3a0d244dc93_0_915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a0d244dc93_0_789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a0d244dc93_0_789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g3a0d244dc93_0_789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a0d244dc93_0_822:notes"/>
          <p:cNvSpPr/>
          <p:nvPr>
            <p:ph idx="2" type="sldImg"/>
          </p:nvPr>
        </p:nvSpPr>
        <p:spPr>
          <a:xfrm>
            <a:off x="381300" y="698539"/>
            <a:ext cx="6096000" cy="3492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a0d244dc93_0_822:notes"/>
          <p:cNvSpPr txBox="1"/>
          <p:nvPr>
            <p:ph idx="1" type="body"/>
          </p:nvPr>
        </p:nvSpPr>
        <p:spPr>
          <a:xfrm>
            <a:off x="685800" y="4424079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a0d244dc93_0_718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a0d244dc93_0_718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g3a0d244dc93_0_718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a0d244dc93_0_736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3a0d244dc93_0_736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g3a0d244dc93_0_736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a0d244dc93_0_806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a0d244dc93_0_806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a0d244dc93_0_806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a0d244dc93_0_798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a0d244dc93_0_798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g3a0d244dc93_0_798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d244dc93_0_814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a0d244dc93_0_814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g3a0d244dc93_0_814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a0d244dc93_0_896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3a0d244dc93_0_896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g3a0d244dc93_0_896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a0d244dc93_0_908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3a0d244dc93_0_908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g3a0d244dc93_0_908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a0d244dc93_0_934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3a0d244dc93_0_934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g3a0d244dc93_0_934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a0d244dc93_0_944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3a0d244dc93_0_944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g3a0d244dc93_0_944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a0d244dc93_0_952:notes"/>
          <p:cNvSpPr/>
          <p:nvPr>
            <p:ph idx="2" type="sldImg"/>
          </p:nvPr>
        </p:nvSpPr>
        <p:spPr>
          <a:xfrm>
            <a:off x="327025" y="700088"/>
            <a:ext cx="6204000" cy="3490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a0d244dc93_0_952:notes"/>
          <p:cNvSpPr txBox="1"/>
          <p:nvPr>
            <p:ph idx="1" type="body"/>
          </p:nvPr>
        </p:nvSpPr>
        <p:spPr>
          <a:xfrm>
            <a:off x="685800" y="4424085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g3a0d244dc93_0_952:notes"/>
          <p:cNvSpPr txBox="1"/>
          <p:nvPr>
            <p:ph idx="12" type="sldNum"/>
          </p:nvPr>
        </p:nvSpPr>
        <p:spPr>
          <a:xfrm>
            <a:off x="3884613" y="8846554"/>
            <a:ext cx="2971800" cy="465600"/>
          </a:xfrm>
          <a:prstGeom prst="rect">
            <a:avLst/>
          </a:prstGeom>
        </p:spPr>
        <p:txBody>
          <a:bodyPr anchorCtr="0" anchor="b" bIns="45650" lIns="91325" spcFirstLastPara="1" rIns="91325" wrap="square" tIns="456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a0d244dc93_0_168:notes"/>
          <p:cNvSpPr/>
          <p:nvPr>
            <p:ph idx="2" type="sldImg"/>
          </p:nvPr>
        </p:nvSpPr>
        <p:spPr>
          <a:xfrm>
            <a:off x="381300" y="698539"/>
            <a:ext cx="6096000" cy="3492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0" name="Google Shape;450;g3a0d244dc93_0_168:notes"/>
          <p:cNvSpPr txBox="1"/>
          <p:nvPr>
            <p:ph idx="1" type="body"/>
          </p:nvPr>
        </p:nvSpPr>
        <p:spPr>
          <a:xfrm>
            <a:off x="685800" y="4424079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a0d244dc93_0_179:notes"/>
          <p:cNvSpPr/>
          <p:nvPr>
            <p:ph idx="2" type="sldImg"/>
          </p:nvPr>
        </p:nvSpPr>
        <p:spPr>
          <a:xfrm>
            <a:off x="381300" y="698539"/>
            <a:ext cx="6096000" cy="3492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a0d244dc93_0_179:notes"/>
          <p:cNvSpPr txBox="1"/>
          <p:nvPr>
            <p:ph idx="1" type="body"/>
          </p:nvPr>
        </p:nvSpPr>
        <p:spPr>
          <a:xfrm>
            <a:off x="685800" y="4424079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a0d244dc93_0_192:notes"/>
          <p:cNvSpPr/>
          <p:nvPr>
            <p:ph idx="2" type="sldImg"/>
          </p:nvPr>
        </p:nvSpPr>
        <p:spPr>
          <a:xfrm>
            <a:off x="381300" y="698539"/>
            <a:ext cx="6096000" cy="3492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3a0d244dc93_0_192:notes"/>
          <p:cNvSpPr txBox="1"/>
          <p:nvPr>
            <p:ph idx="1" type="body"/>
          </p:nvPr>
        </p:nvSpPr>
        <p:spPr>
          <a:xfrm>
            <a:off x="685800" y="4424079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3a0d244dc93_0_208:notes"/>
          <p:cNvSpPr/>
          <p:nvPr>
            <p:ph idx="2" type="sldImg"/>
          </p:nvPr>
        </p:nvSpPr>
        <p:spPr>
          <a:xfrm>
            <a:off x="381300" y="698539"/>
            <a:ext cx="6096000" cy="3492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3a0d244dc93_0_208:notes"/>
          <p:cNvSpPr txBox="1"/>
          <p:nvPr>
            <p:ph idx="1" type="body"/>
          </p:nvPr>
        </p:nvSpPr>
        <p:spPr>
          <a:xfrm>
            <a:off x="685800" y="4424079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a0d244dc93_0_218:notes"/>
          <p:cNvSpPr/>
          <p:nvPr>
            <p:ph idx="2" type="sldImg"/>
          </p:nvPr>
        </p:nvSpPr>
        <p:spPr>
          <a:xfrm>
            <a:off x="381300" y="698539"/>
            <a:ext cx="6096000" cy="3492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" name="Google Shape;504;g3a0d244dc93_0_218:notes"/>
          <p:cNvSpPr txBox="1"/>
          <p:nvPr>
            <p:ph idx="1" type="body"/>
          </p:nvPr>
        </p:nvSpPr>
        <p:spPr>
          <a:xfrm>
            <a:off x="685800" y="4424079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a0d244dc93_0_227:notes"/>
          <p:cNvSpPr/>
          <p:nvPr>
            <p:ph idx="2" type="sldImg"/>
          </p:nvPr>
        </p:nvSpPr>
        <p:spPr>
          <a:xfrm>
            <a:off x="381300" y="698539"/>
            <a:ext cx="6096000" cy="3492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g3a0d244dc93_0_227:notes"/>
          <p:cNvSpPr txBox="1"/>
          <p:nvPr>
            <p:ph idx="1" type="body"/>
          </p:nvPr>
        </p:nvSpPr>
        <p:spPr>
          <a:xfrm>
            <a:off x="685800" y="4424079"/>
            <a:ext cx="5486400" cy="4191300"/>
          </a:xfrm>
          <a:prstGeom prst="rect">
            <a:avLst/>
          </a:prstGeom>
        </p:spPr>
        <p:txBody>
          <a:bodyPr anchorCtr="0" anchor="t" bIns="45650" lIns="91325" spcFirstLastPara="1" rIns="91325" wrap="square" tIns="4565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58"/>
          <p:cNvSpPr txBox="1"/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000"/>
              <a:buFont typeface="Arial"/>
              <a:buNone/>
              <a:defRPr b="1" sz="4000" cap="none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58"/>
          <p:cNvSpPr txBox="1"/>
          <p:nvPr>
            <p:ph idx="1" type="body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9"/>
          <p:cNvSpPr txBox="1"/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9"/>
          <p:cNvSpPr txBox="1"/>
          <p:nvPr>
            <p:ph idx="1" type="subTitle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0"/>
          <p:cNvSpPr txBox="1"/>
          <p:nvPr>
            <p:ph type="title"/>
          </p:nvPr>
        </p:nvSpPr>
        <p:spPr>
          <a:xfrm>
            <a:off x="457200" y="7774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0"/>
          <p:cNvSpPr txBox="1"/>
          <p:nvPr>
            <p:ph idx="1" type="body"/>
          </p:nvPr>
        </p:nvSpPr>
        <p:spPr>
          <a:xfrm>
            <a:off x="457200" y="1771650"/>
            <a:ext cx="8229600" cy="2914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rgbClr val="3F3F3F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3F3F3F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3F3F3F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1"/>
          <p:cNvSpPr txBox="1"/>
          <p:nvPr>
            <p:ph idx="10" type="dt"/>
          </p:nvPr>
        </p:nvSpPr>
        <p:spPr>
          <a:xfrm>
            <a:off x="7734132" y="4656582"/>
            <a:ext cx="647867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7"/>
          <p:cNvSpPr txBox="1"/>
          <p:nvPr>
            <p:ph type="title"/>
          </p:nvPr>
        </p:nvSpPr>
        <p:spPr>
          <a:xfrm>
            <a:off x="457200" y="685800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7"/>
          <p:cNvSpPr txBox="1"/>
          <p:nvPr>
            <p:ph idx="1" type="body"/>
          </p:nvPr>
        </p:nvSpPr>
        <p:spPr>
          <a:xfrm>
            <a:off x="457200" y="1749028"/>
            <a:ext cx="4038600" cy="31087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rgbClr val="3F3F3F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rgbClr val="3F3F3F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3F3F3F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3F3F3F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26" name="Google Shape;26;p67"/>
          <p:cNvSpPr txBox="1"/>
          <p:nvPr>
            <p:ph idx="2" type="body"/>
          </p:nvPr>
        </p:nvSpPr>
        <p:spPr>
          <a:xfrm>
            <a:off x="4648200" y="1749028"/>
            <a:ext cx="4038600" cy="31087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rgbClr val="3F3F3F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rgbClr val="3F3F3F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rgbClr val="3F3F3F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rgbClr val="3F3F3F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8"/>
          <p:cNvSpPr txBox="1"/>
          <p:nvPr>
            <p:ph type="title"/>
          </p:nvPr>
        </p:nvSpPr>
        <p:spPr>
          <a:xfrm>
            <a:off x="420688" y="641510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8"/>
          <p:cNvSpPr txBox="1"/>
          <p:nvPr>
            <p:ph idx="1" type="body"/>
          </p:nvPr>
        </p:nvSpPr>
        <p:spPr>
          <a:xfrm>
            <a:off x="3575050" y="920884"/>
            <a:ext cx="5111750" cy="40511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rgbClr val="3F3F3F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rgbClr val="3F3F3F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rgbClr val="3F3F3F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30" name="Google Shape;30;p68"/>
          <p:cNvSpPr txBox="1"/>
          <p:nvPr>
            <p:ph idx="2" type="body"/>
          </p:nvPr>
        </p:nvSpPr>
        <p:spPr>
          <a:xfrm>
            <a:off x="420688" y="1601629"/>
            <a:ext cx="3008313" cy="31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rgbClr val="3F3F3F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rgbClr val="3F3F3F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9"/>
          <p:cNvSpPr txBox="1"/>
          <p:nvPr>
            <p:ph type="title"/>
          </p:nvPr>
        </p:nvSpPr>
        <p:spPr>
          <a:xfrm>
            <a:off x="1792288" y="3829050"/>
            <a:ext cx="5486400" cy="42576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69"/>
          <p:cNvSpPr/>
          <p:nvPr>
            <p:ph idx="2" type="pic"/>
          </p:nvPr>
        </p:nvSpPr>
        <p:spPr>
          <a:xfrm>
            <a:off x="1792288" y="685800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34" name="Google Shape;34;p69"/>
          <p:cNvSpPr txBox="1"/>
          <p:nvPr>
            <p:ph idx="1" type="body"/>
          </p:nvPr>
        </p:nvSpPr>
        <p:spPr>
          <a:xfrm>
            <a:off x="1792288" y="4254817"/>
            <a:ext cx="5486400" cy="602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rgbClr val="3F3F3F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rgbClr val="3F3F3F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a0d244dc93_0_239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g3a0d244dc93_0_239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fmla="val 16667" name="adj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g3a0d244dc93_0_239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3" name="Google Shape;43;g3a0d244dc93_0_239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g3a0d244dc93_0_23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a0d244dc93_0_245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7" name="Google Shape;47;g3a0d244dc93_0_24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a0d244dc93_0_248"/>
          <p:cNvSpPr/>
          <p:nvPr/>
        </p:nvSpPr>
        <p:spPr>
          <a:xfrm flipH="1" rot="10800000">
            <a:off x="0" y="789900"/>
            <a:ext cx="9144000" cy="435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g3a0d244dc93_0_248"/>
          <p:cNvSpPr/>
          <p:nvPr/>
        </p:nvSpPr>
        <p:spPr>
          <a:xfrm>
            <a:off x="0" y="7899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g3a0d244dc93_0_248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52" name="Google Shape;52;g3a0d244dc93_0_248"/>
          <p:cNvSpPr txBox="1"/>
          <p:nvPr>
            <p:ph idx="1" type="body"/>
          </p:nvPr>
        </p:nvSpPr>
        <p:spPr>
          <a:xfrm>
            <a:off x="460950" y="920700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>
                <a:solidFill>
                  <a:srgbClr val="000000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53" name="Google Shape;53;g3a0d244dc93_0_24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a0d244dc93_0_254"/>
          <p:cNvSpPr/>
          <p:nvPr/>
        </p:nvSpPr>
        <p:spPr>
          <a:xfrm flipH="1" rot="10800000">
            <a:off x="0" y="654300"/>
            <a:ext cx="9144000" cy="4489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g3a0d244dc93_0_254"/>
          <p:cNvSpPr/>
          <p:nvPr/>
        </p:nvSpPr>
        <p:spPr>
          <a:xfrm>
            <a:off x="0" y="6543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g3a0d244dc93_0_254"/>
          <p:cNvSpPr txBox="1"/>
          <p:nvPr>
            <p:ph type="title"/>
          </p:nvPr>
        </p:nvSpPr>
        <p:spPr>
          <a:xfrm>
            <a:off x="460950" y="0"/>
            <a:ext cx="8222100" cy="6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58" name="Google Shape;58;g3a0d244dc93_0_254"/>
          <p:cNvSpPr txBox="1"/>
          <p:nvPr>
            <p:ph idx="1" type="body"/>
          </p:nvPr>
        </p:nvSpPr>
        <p:spPr>
          <a:xfrm>
            <a:off x="495850" y="916900"/>
            <a:ext cx="3916500" cy="377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>
                <a:solidFill>
                  <a:srgbClr val="000000"/>
                </a:solidFill>
              </a:defRPr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59" name="Google Shape;59;g3a0d244dc93_0_254"/>
          <p:cNvSpPr txBox="1"/>
          <p:nvPr>
            <p:ph idx="2" type="body"/>
          </p:nvPr>
        </p:nvSpPr>
        <p:spPr>
          <a:xfrm>
            <a:off x="4683250" y="916900"/>
            <a:ext cx="3999900" cy="373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>
                <a:solidFill>
                  <a:srgbClr val="000000"/>
                </a:solidFill>
              </a:defRPr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>
                <a:solidFill>
                  <a:srgbClr val="000000"/>
                </a:solidFill>
              </a:defRPr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>
                <a:solidFill>
                  <a:srgbClr val="000000"/>
                </a:solidFill>
              </a:defRPr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200"/>
              <a:buChar char="■"/>
              <a:defRPr sz="1200"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60" name="Google Shape;60;g3a0d244dc93_0_25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rmal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a0d244dc93_0_261"/>
          <p:cNvSpPr/>
          <p:nvPr/>
        </p:nvSpPr>
        <p:spPr>
          <a:xfrm flipH="1" rot="10800000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g3a0d244dc93_0_261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g3a0d244dc93_0_261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65" name="Google Shape;65;g3a0d244dc93_0_26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g3a0d244dc93_0_261"/>
          <p:cNvSpPr txBox="1"/>
          <p:nvPr>
            <p:ph idx="1" type="body"/>
          </p:nvPr>
        </p:nvSpPr>
        <p:spPr>
          <a:xfrm>
            <a:off x="207450" y="734075"/>
            <a:ext cx="8633400" cy="410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>
                <a:solidFill>
                  <a:srgbClr val="000000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a0d244dc93_0_267"/>
          <p:cNvSpPr txBox="1"/>
          <p:nvPr/>
        </p:nvSpPr>
        <p:spPr>
          <a:xfrm flipH="1" rot="10800000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g3a0d244dc93_0_26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g3a0d244dc93_0_267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1" name="Google Shape;71;g3a0d244dc93_0_267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g3a0d244dc93_0_26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a0d244dc93_0_273"/>
          <p:cNvSpPr txBox="1"/>
          <p:nvPr>
            <p:ph type="title"/>
          </p:nvPr>
        </p:nvSpPr>
        <p:spPr>
          <a:xfrm>
            <a:off x="490250" y="488250"/>
            <a:ext cx="62520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75" name="Google Shape;75;g3a0d244dc93_0_273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a0d244dc93_0_276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g3a0d244dc93_0_276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g3a0d244dc93_0_276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0" name="Google Shape;80;g3a0d244dc93_0_276"/>
          <p:cNvSpPr txBox="1"/>
          <p:nvPr>
            <p:ph idx="1" type="subTitle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1" name="Google Shape;81;g3a0d244dc93_0_276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2" name="Google Shape;82;g3a0d244dc93_0_27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a0d244dc93_0_283"/>
          <p:cNvSpPr txBox="1"/>
          <p:nvPr/>
        </p:nvSpPr>
        <p:spPr>
          <a:xfrm flipH="1" rot="10800000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g3a0d244dc93_0_283"/>
          <p:cNvSpPr/>
          <p:nvPr/>
        </p:nvSpPr>
        <p:spPr>
          <a:xfrm flipH="1" rot="10800000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g3a0d244dc93_0_283"/>
          <p:cNvSpPr txBox="1"/>
          <p:nvPr>
            <p:ph idx="1" type="body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87" name="Google Shape;87;g3a0d244dc93_0_283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4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a0d244dc93_0_288"/>
          <p:cNvSpPr txBox="1"/>
          <p:nvPr>
            <p:ph hasCustomPrompt="1" type="title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0" name="Google Shape;90;g3a0d244dc93_0_288"/>
          <p:cNvSpPr txBox="1"/>
          <p:nvPr>
            <p:ph idx="1" type="body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1" name="Google Shape;91;g3a0d244dc93_0_28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a0d244dc93_0_29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x text or content">
  <p:cSld name="1 x text or content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a0d244dc93_0_294"/>
          <p:cNvSpPr txBox="1"/>
          <p:nvPr>
            <p:ph type="title"/>
          </p:nvPr>
        </p:nvSpPr>
        <p:spPr>
          <a:xfrm>
            <a:off x="494108" y="492919"/>
            <a:ext cx="6766500" cy="39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96" name="Google Shape;96;g3a0d244dc93_0_294"/>
          <p:cNvSpPr txBox="1"/>
          <p:nvPr>
            <p:ph idx="1" type="subTitle"/>
          </p:nvPr>
        </p:nvSpPr>
        <p:spPr>
          <a:xfrm>
            <a:off x="494111" y="980100"/>
            <a:ext cx="3992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87500"/>
              </a:lnSpc>
              <a:spcBef>
                <a:spcPts val="700"/>
              </a:spcBef>
              <a:spcAft>
                <a:spcPts val="70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97" name="Google Shape;97;g3a0d244dc93_0_294"/>
          <p:cNvSpPr txBox="1"/>
          <p:nvPr>
            <p:ph idx="2" type="body"/>
          </p:nvPr>
        </p:nvSpPr>
        <p:spPr>
          <a:xfrm>
            <a:off x="494110" y="1358504"/>
            <a:ext cx="8155800" cy="32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619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indent="-3175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indent="-3175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/>
            </a:lvl4pPr>
            <a:lvl5pPr indent="-32385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  <a:defRPr/>
            </a:lvl5pPr>
            <a:lvl6pPr indent="-32385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 sz="1500"/>
            </a:lvl6pPr>
            <a:lvl7pPr indent="-3048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●"/>
              <a:defRPr/>
            </a:lvl7pPr>
            <a:lvl8pPr indent="-3048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/>
            </a:lvl8pPr>
            <a:lvl9pPr indent="-285750" lvl="8" marL="4114800" algn="l">
              <a:lnSpc>
                <a:spcPct val="116666"/>
              </a:lnSpc>
              <a:spcBef>
                <a:spcPts val="700"/>
              </a:spcBef>
              <a:spcAft>
                <a:spcPts val="700"/>
              </a:spcAft>
              <a:buClr>
                <a:schemeClr val="dk1"/>
              </a:buClr>
              <a:buSzPts val="900"/>
              <a:buChar char="■"/>
              <a:defRPr/>
            </a:lvl9pPr>
          </a:lstStyle>
          <a:p/>
        </p:txBody>
      </p:sp>
      <p:sp>
        <p:nvSpPr>
          <p:cNvPr id="98" name="Google Shape;98;g3a0d244dc93_0_294"/>
          <p:cNvSpPr txBox="1"/>
          <p:nvPr>
            <p:ph idx="11" type="ftr"/>
          </p:nvPr>
        </p:nvSpPr>
        <p:spPr>
          <a:xfrm>
            <a:off x="494109" y="4873500"/>
            <a:ext cx="3992100" cy="13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99" name="Google Shape;99;g3a0d244dc93_0_294"/>
          <p:cNvSpPr txBox="1"/>
          <p:nvPr>
            <p:ph idx="12" type="sldNum"/>
          </p:nvPr>
        </p:nvSpPr>
        <p:spPr>
          <a:xfrm>
            <a:off x="8303023" y="4873500"/>
            <a:ext cx="347100" cy="13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>
  <p:cSld name="TITLE_ONLY_1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a0d244dc93_0_529"/>
          <p:cNvSpPr txBox="1"/>
          <p:nvPr>
            <p:ph type="title"/>
          </p:nvPr>
        </p:nvSpPr>
        <p:spPr>
          <a:xfrm>
            <a:off x="324852" y="216568"/>
            <a:ext cx="7886700" cy="58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cxnSp>
        <p:nvCxnSpPr>
          <p:cNvPr id="102" name="Google Shape;102;g3a0d244dc93_0_529"/>
          <p:cNvCxnSpPr/>
          <p:nvPr/>
        </p:nvCxnSpPr>
        <p:spPr>
          <a:xfrm>
            <a:off x="354931" y="782053"/>
            <a:ext cx="3429000" cy="0"/>
          </a:xfrm>
          <a:prstGeom prst="straightConnector1">
            <a:avLst/>
          </a:prstGeom>
          <a:noFill/>
          <a:ln cap="flat" cmpd="sng" w="42875">
            <a:solidFill>
              <a:schemeClr val="accent2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3" name="Google Shape;103;g3a0d244dc93_0_52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104" name="Google Shape;104;g3a0d244dc93_0_52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105" name="Google Shape;105;g3a0d244dc93_0_52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theme" Target="../theme/theme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8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7"/>
          <p:cNvSpPr txBox="1"/>
          <p:nvPr>
            <p:ph type="title"/>
          </p:nvPr>
        </p:nvSpPr>
        <p:spPr>
          <a:xfrm>
            <a:off x="457200" y="685800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400"/>
              <a:buFont typeface="Arial"/>
              <a:buNone/>
              <a:defRPr b="0" i="0" sz="4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57"/>
          <p:cNvSpPr txBox="1"/>
          <p:nvPr>
            <p:ph idx="1" type="body"/>
          </p:nvPr>
        </p:nvSpPr>
        <p:spPr>
          <a:xfrm>
            <a:off x="457200" y="1679972"/>
            <a:ext cx="8229600" cy="2914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rgbClr val="3F3F3F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rgbClr val="BF5700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a0d244dc93_0_23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" name="Google Shape;37;g3a0d244dc93_0_235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Roboto"/>
              <a:buChar char="●"/>
              <a:defRPr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"/>
              <a:buChar char="○"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"/>
              <a:buChar char="■"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"/>
              <a:buChar char="●"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"/>
              <a:buChar char="○"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"/>
              <a:buChar char="■"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"/>
              <a:buChar char="●"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"/>
              <a:buChar char="○"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Roboto"/>
              <a:buChar char="■"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8" name="Google Shape;38;g3a0d244dc93_0_23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  <p:sldLayoutId id="2147483669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3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Relationship Id="rId6" Type="http://schemas.openxmlformats.org/officeDocument/2006/relationships/image" Target="../media/image19.png"/><Relationship Id="rId7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gif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24.png"/><Relationship Id="rId5" Type="http://schemas.openxmlformats.org/officeDocument/2006/relationships/image" Target="../media/image32.png"/><Relationship Id="rId6" Type="http://schemas.openxmlformats.org/officeDocument/2006/relationships/image" Target="../media/image2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Relationship Id="rId4" Type="http://schemas.openxmlformats.org/officeDocument/2006/relationships/image" Target="../media/image25.png"/><Relationship Id="rId5" Type="http://schemas.openxmlformats.org/officeDocument/2006/relationships/image" Target="../media/image2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1.png"/><Relationship Id="rId4" Type="http://schemas.openxmlformats.org/officeDocument/2006/relationships/image" Target="../media/image27.png"/><Relationship Id="rId5" Type="http://schemas.openxmlformats.org/officeDocument/2006/relationships/hyperlink" Target="https://dsp.stackexchange.com/questions/24900/translation-invariance-in-max-pooling-and-cascading-with-convolutional-layer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gif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gif"/><Relationship Id="rId4" Type="http://schemas.openxmlformats.org/officeDocument/2006/relationships/image" Target="../media/image2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gif"/><Relationship Id="rId4" Type="http://schemas.openxmlformats.org/officeDocument/2006/relationships/image" Target="../media/image28.gif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8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5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png"/><Relationship Id="rId4" Type="http://schemas.openxmlformats.org/officeDocument/2006/relationships/image" Target="../media/image53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6.png"/><Relationship Id="rId4" Type="http://schemas.openxmlformats.org/officeDocument/2006/relationships/image" Target="../media/image44.png"/><Relationship Id="rId5" Type="http://schemas.openxmlformats.org/officeDocument/2006/relationships/image" Target="../media/image53.png"/><Relationship Id="rId6" Type="http://schemas.openxmlformats.org/officeDocument/2006/relationships/image" Target="../media/image4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3.png"/><Relationship Id="rId4" Type="http://schemas.openxmlformats.org/officeDocument/2006/relationships/image" Target="../media/image51.png"/><Relationship Id="rId5" Type="http://schemas.openxmlformats.org/officeDocument/2006/relationships/image" Target="../media/image47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3.png"/><Relationship Id="rId4" Type="http://schemas.openxmlformats.org/officeDocument/2006/relationships/image" Target="../media/image46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" name="Google Shape;111;p1"/>
          <p:cNvCxnSpPr/>
          <p:nvPr/>
        </p:nvCxnSpPr>
        <p:spPr>
          <a:xfrm>
            <a:off x="317201" y="2343150"/>
            <a:ext cx="57912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1"/>
          <p:cNvSpPr txBox="1"/>
          <p:nvPr/>
        </p:nvSpPr>
        <p:spPr>
          <a:xfrm>
            <a:off x="317845" y="2527191"/>
            <a:ext cx="5955666" cy="21442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i="0" lang="en-US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PROF. KRISHNA KUMAR, PHD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i="0" lang="en-US" sz="1600" u="none" cap="none" strike="noStrike">
                <a:solidFill>
                  <a:srgbClr val="FFFFFF"/>
                </a:solidFill>
              </a:rPr>
              <a:t>J. Neils Thompson Centennial Teaching Fellow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Department of Civil, Architectural, and Environmental Eng.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University of Texas at Austin</a:t>
            </a:r>
            <a:endParaRPr/>
          </a:p>
          <a:p>
            <a:pPr indent="0" lvl="0" marL="0" marR="0" rtl="0" algn="l">
              <a:lnSpc>
                <a:spcPct val="3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"/>
          <p:cNvSpPr txBox="1"/>
          <p:nvPr/>
        </p:nvSpPr>
        <p:spPr>
          <a:xfrm>
            <a:off x="234968" y="92582"/>
            <a:ext cx="7828444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AI IN GEOTECHNICAL ENGINEERING – MODULE </a:t>
            </a:r>
            <a:r>
              <a:rPr lang="en-US" sz="12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6</a:t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"/>
          <p:cNvSpPr txBox="1"/>
          <p:nvPr/>
        </p:nvSpPr>
        <p:spPr>
          <a:xfrm>
            <a:off x="253521" y="437999"/>
            <a:ext cx="8437520" cy="2089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1" lang="en-US" sz="36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Convolutional Neural Networks</a:t>
            </a:r>
            <a:endParaRPr/>
          </a:p>
        </p:txBody>
      </p:sp>
      <p:pic>
        <p:nvPicPr>
          <p:cNvPr id="115" name="Google Shape;11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31635" y="107950"/>
            <a:ext cx="1877397" cy="9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0d244dc93_0_300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Learning Objectives</a:t>
            </a:r>
            <a:endParaRPr/>
          </a:p>
        </p:txBody>
      </p:sp>
      <p:sp>
        <p:nvSpPr>
          <p:cNvPr id="121" name="Google Shape;121;g3a0d244dc93_0_30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2" name="Google Shape;122;g3a0d244dc93_0_300"/>
          <p:cNvSpPr txBox="1"/>
          <p:nvPr>
            <p:ph idx="1" type="body"/>
          </p:nvPr>
        </p:nvSpPr>
        <p:spPr>
          <a:xfrm>
            <a:off x="460950" y="920700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US"/>
              <a:t>What is a Convolutional Neural Networks (Image-based data)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US"/>
              <a:t>CNN Architecture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US"/>
              <a:t>Uses of CNN: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Image classification (Soil Classification/Crack detection)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Image segmentation (Mapping cracks/Soil layer separation)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Image generation (Generate soil profile based on measurements)</a:t>
            </a:r>
            <a:endParaRPr/>
          </a:p>
        </p:txBody>
      </p:sp>
      <p:pic>
        <p:nvPicPr>
          <p:cNvPr id="123" name="Google Shape;123;g3a0d244dc93_0_3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3938" y="2964475"/>
            <a:ext cx="2619375" cy="1743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g3a0d244dc93_0_30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848" y="3301297"/>
            <a:ext cx="2507826" cy="1069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g3a0d244dc93_0_30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72500" y="2995663"/>
            <a:ext cx="2899751" cy="1680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a0d244dc93_0_318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do we need CNN?</a:t>
            </a:r>
            <a:endParaRPr/>
          </a:p>
        </p:txBody>
      </p:sp>
      <p:sp>
        <p:nvSpPr>
          <p:cNvPr id="132" name="Google Shape;132;g3a0d244dc93_0_31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3" name="Google Shape;133;g3a0d244dc93_0_318"/>
          <p:cNvPicPr preferRelativeResize="0"/>
          <p:nvPr/>
        </p:nvPicPr>
        <p:blipFill rotWithShape="1">
          <a:blip r:embed="rId3">
            <a:alphaModFix/>
          </a:blip>
          <a:srcRect b="2744" l="4395" r="20337" t="34872"/>
          <a:stretch/>
        </p:blipFill>
        <p:spPr>
          <a:xfrm>
            <a:off x="853250" y="1014225"/>
            <a:ext cx="6882151" cy="2672375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g3a0d244dc93_0_318"/>
          <p:cNvSpPr txBox="1"/>
          <p:nvPr/>
        </p:nvSpPr>
        <p:spPr>
          <a:xfrm>
            <a:off x="2487250" y="3630250"/>
            <a:ext cx="463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404040"/>
                </a:solidFill>
                <a:latin typeface="Roboto"/>
                <a:ea typeface="Roboto"/>
                <a:cs typeface="Roboto"/>
                <a:sym typeface="Roboto"/>
              </a:rPr>
              <a:t>Multi- Layer Perceptron</a:t>
            </a:r>
            <a:endParaRPr sz="1800">
              <a:solidFill>
                <a:srgbClr val="4040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0d244dc93_0_327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do we need CNN? (MLP Failure)</a:t>
            </a:r>
            <a:endParaRPr/>
          </a:p>
        </p:txBody>
      </p:sp>
      <p:sp>
        <p:nvSpPr>
          <p:cNvPr id="141" name="Google Shape;141;g3a0d244dc93_0_32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2" name="Google Shape;142;g3a0d244dc93_0_327"/>
          <p:cNvPicPr preferRelativeResize="0"/>
          <p:nvPr/>
        </p:nvPicPr>
        <p:blipFill rotWithShape="1">
          <a:blip r:embed="rId3">
            <a:alphaModFix/>
          </a:blip>
          <a:srcRect b="2744" l="4395" r="20337" t="34872"/>
          <a:stretch/>
        </p:blipFill>
        <p:spPr>
          <a:xfrm>
            <a:off x="853250" y="1014225"/>
            <a:ext cx="6882151" cy="267237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g3a0d244dc93_0_327"/>
          <p:cNvSpPr txBox="1"/>
          <p:nvPr/>
        </p:nvSpPr>
        <p:spPr>
          <a:xfrm>
            <a:off x="2487250" y="3630250"/>
            <a:ext cx="463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404040"/>
                </a:solidFill>
                <a:latin typeface="Roboto"/>
                <a:ea typeface="Roboto"/>
                <a:cs typeface="Roboto"/>
                <a:sym typeface="Roboto"/>
              </a:rPr>
              <a:t>Multi- Layer Perceptron</a:t>
            </a:r>
            <a:endParaRPr sz="1800">
              <a:solidFill>
                <a:srgbClr val="4040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" name="Google Shape;144;g3a0d244dc93_0_327"/>
          <p:cNvSpPr/>
          <p:nvPr/>
        </p:nvSpPr>
        <p:spPr>
          <a:xfrm>
            <a:off x="6592375" y="2054075"/>
            <a:ext cx="1022400" cy="321300"/>
          </a:xfrm>
          <a:prstGeom prst="roundRect">
            <a:avLst>
              <a:gd fmla="val 5556" name="adj"/>
            </a:avLst>
          </a:prstGeom>
          <a:solidFill>
            <a:srgbClr val="A5A5A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Bird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" name="Google Shape;145;g3a0d244dc93_0_327"/>
          <p:cNvSpPr/>
          <p:nvPr/>
        </p:nvSpPr>
        <p:spPr>
          <a:xfrm>
            <a:off x="6592375" y="1626925"/>
            <a:ext cx="1022400" cy="321300"/>
          </a:xfrm>
          <a:prstGeom prst="roundRect">
            <a:avLst>
              <a:gd fmla="val 5556" name="adj"/>
            </a:avLst>
          </a:prstGeom>
          <a:solidFill>
            <a:srgbClr val="F1C23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Dog</a:t>
            </a: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6" name="Google Shape;146;g3a0d244dc93_0_327"/>
          <p:cNvPicPr preferRelativeResize="0"/>
          <p:nvPr/>
        </p:nvPicPr>
        <p:blipFill rotWithShape="1">
          <a:blip r:embed="rId3">
            <a:alphaModFix/>
          </a:blip>
          <a:srcRect b="25090" l="6777" r="78256" t="53119"/>
          <a:stretch/>
        </p:blipFill>
        <p:spPr>
          <a:xfrm rot="-5399989">
            <a:off x="1283774" y="1565677"/>
            <a:ext cx="982175" cy="14408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a0d244dc93_0_338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MNIST dataset</a:t>
            </a:r>
            <a:endParaRPr/>
          </a:p>
        </p:txBody>
      </p:sp>
      <p:sp>
        <p:nvSpPr>
          <p:cNvPr id="153" name="Google Shape;153;g3a0d244dc93_0_33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4" name="Google Shape;154;g3a0d244dc93_0_3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2563" y="1023938"/>
            <a:ext cx="6238875" cy="3095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a0d244dc93_0_346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Encoding Images using MLP</a:t>
            </a:r>
            <a:endParaRPr/>
          </a:p>
        </p:txBody>
      </p:sp>
      <p:sp>
        <p:nvSpPr>
          <p:cNvPr id="161" name="Google Shape;161;g3a0d244dc93_0_34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62" name="Google Shape;162;g3a0d244dc93_0_3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3222" y="1831061"/>
            <a:ext cx="5194453" cy="204710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3" name="Google Shape;163;g3a0d244dc93_0_346"/>
          <p:cNvCxnSpPr/>
          <p:nvPr/>
        </p:nvCxnSpPr>
        <p:spPr>
          <a:xfrm rot="5400000">
            <a:off x="4562681" y="1531134"/>
            <a:ext cx="760500" cy="644100"/>
          </a:xfrm>
          <a:prstGeom prst="curvedConnector3">
            <a:avLst>
              <a:gd fmla="val 49993" name="adj1"/>
            </a:avLst>
          </a:prstGeom>
          <a:noFill/>
          <a:ln cap="flat" cmpd="sng" w="23750">
            <a:solidFill>
              <a:schemeClr val="lt2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64" name="Google Shape;164;g3a0d244dc93_0_346"/>
          <p:cNvSpPr txBox="1"/>
          <p:nvPr/>
        </p:nvSpPr>
        <p:spPr>
          <a:xfrm>
            <a:off x="5160331" y="1203753"/>
            <a:ext cx="24297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175" lIns="68375" spcFirstLastPara="1" rIns="68375" wrap="square" tIns="341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4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this pixel gets weight 0.6</a:t>
            </a:r>
            <a:endParaRPr sz="1046"/>
          </a:p>
        </p:txBody>
      </p:sp>
      <p:cxnSp>
        <p:nvCxnSpPr>
          <p:cNvPr id="165" name="Google Shape;165;g3a0d244dc93_0_346"/>
          <p:cNvCxnSpPr/>
          <p:nvPr/>
        </p:nvCxnSpPr>
        <p:spPr>
          <a:xfrm flipH="1">
            <a:off x="5499775" y="2986300"/>
            <a:ext cx="1140900" cy="102600"/>
          </a:xfrm>
          <a:prstGeom prst="curvedConnector3">
            <a:avLst>
              <a:gd fmla="val 50000" name="adj1"/>
            </a:avLst>
          </a:prstGeom>
          <a:noFill/>
          <a:ln cap="flat" cmpd="sng" w="23750">
            <a:solidFill>
              <a:schemeClr val="lt2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66" name="Google Shape;166;g3a0d244dc93_0_346"/>
          <p:cNvSpPr txBox="1"/>
          <p:nvPr/>
        </p:nvSpPr>
        <p:spPr>
          <a:xfrm>
            <a:off x="6093839" y="2622212"/>
            <a:ext cx="24297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175" lIns="68375" spcFirstLastPara="1" rIns="68375" wrap="square" tIns="341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4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this pixel gets weight 0.1</a:t>
            </a:r>
            <a:endParaRPr sz="1046"/>
          </a:p>
        </p:txBody>
      </p:sp>
      <p:cxnSp>
        <p:nvCxnSpPr>
          <p:cNvPr id="167" name="Google Shape;167;g3a0d244dc93_0_346"/>
          <p:cNvCxnSpPr/>
          <p:nvPr/>
        </p:nvCxnSpPr>
        <p:spPr>
          <a:xfrm rot="-5400000">
            <a:off x="4382679" y="3976760"/>
            <a:ext cx="974400" cy="9300"/>
          </a:xfrm>
          <a:prstGeom prst="curvedConnector3">
            <a:avLst>
              <a:gd fmla="val 50005" name="adj1"/>
            </a:avLst>
          </a:prstGeom>
          <a:noFill/>
          <a:ln cap="flat" cmpd="sng" w="23750">
            <a:solidFill>
              <a:schemeClr val="lt2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68" name="Google Shape;168;g3a0d244dc93_0_346"/>
          <p:cNvSpPr txBox="1"/>
          <p:nvPr/>
        </p:nvSpPr>
        <p:spPr>
          <a:xfrm>
            <a:off x="4553417" y="4350315"/>
            <a:ext cx="24297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175" lIns="68375" spcFirstLastPara="1" rIns="68375" wrap="square" tIns="341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4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this pixel gets weight 0.9</a:t>
            </a:r>
            <a:endParaRPr sz="1046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a0d244dc93_0_362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Is this still a 1? with the shift?</a:t>
            </a:r>
            <a:endParaRPr/>
          </a:p>
        </p:txBody>
      </p:sp>
      <p:sp>
        <p:nvSpPr>
          <p:cNvPr id="175" name="Google Shape;175;g3a0d244dc93_0_36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76" name="Google Shape;176;g3a0d244dc93_0_3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3222" y="1831061"/>
            <a:ext cx="5194453" cy="204710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7" name="Google Shape;177;g3a0d244dc93_0_362"/>
          <p:cNvCxnSpPr/>
          <p:nvPr/>
        </p:nvCxnSpPr>
        <p:spPr>
          <a:xfrm rot="5400000">
            <a:off x="4562681" y="1531134"/>
            <a:ext cx="760500" cy="644100"/>
          </a:xfrm>
          <a:prstGeom prst="curvedConnector3">
            <a:avLst>
              <a:gd fmla="val 49993" name="adj1"/>
            </a:avLst>
          </a:prstGeom>
          <a:noFill/>
          <a:ln cap="flat" cmpd="sng" w="23750">
            <a:solidFill>
              <a:schemeClr val="lt2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78" name="Google Shape;178;g3a0d244dc93_0_362"/>
          <p:cNvSpPr txBox="1"/>
          <p:nvPr/>
        </p:nvSpPr>
        <p:spPr>
          <a:xfrm>
            <a:off x="5160331" y="1203753"/>
            <a:ext cx="24297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175" lIns="68375" spcFirstLastPara="1" rIns="68375" wrap="square" tIns="341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4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this pixel gets weight 0.6</a:t>
            </a:r>
            <a:endParaRPr sz="1046"/>
          </a:p>
        </p:txBody>
      </p:sp>
      <p:cxnSp>
        <p:nvCxnSpPr>
          <p:cNvPr id="179" name="Google Shape;179;g3a0d244dc93_0_362"/>
          <p:cNvCxnSpPr/>
          <p:nvPr/>
        </p:nvCxnSpPr>
        <p:spPr>
          <a:xfrm flipH="1">
            <a:off x="5499775" y="2986300"/>
            <a:ext cx="1140900" cy="102600"/>
          </a:xfrm>
          <a:prstGeom prst="curvedConnector3">
            <a:avLst>
              <a:gd fmla="val 50000" name="adj1"/>
            </a:avLst>
          </a:prstGeom>
          <a:noFill/>
          <a:ln cap="flat" cmpd="sng" w="23750">
            <a:solidFill>
              <a:schemeClr val="lt2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80" name="Google Shape;180;g3a0d244dc93_0_362"/>
          <p:cNvSpPr txBox="1"/>
          <p:nvPr/>
        </p:nvSpPr>
        <p:spPr>
          <a:xfrm>
            <a:off x="6093839" y="2622212"/>
            <a:ext cx="24297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175" lIns="68375" spcFirstLastPara="1" rIns="68375" wrap="square" tIns="341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4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this pixel gets weight 0.1</a:t>
            </a:r>
            <a:endParaRPr sz="1046"/>
          </a:p>
        </p:txBody>
      </p:sp>
      <p:cxnSp>
        <p:nvCxnSpPr>
          <p:cNvPr id="181" name="Google Shape;181;g3a0d244dc93_0_362"/>
          <p:cNvCxnSpPr/>
          <p:nvPr/>
        </p:nvCxnSpPr>
        <p:spPr>
          <a:xfrm rot="-5400000">
            <a:off x="4382679" y="3976760"/>
            <a:ext cx="974400" cy="9300"/>
          </a:xfrm>
          <a:prstGeom prst="curvedConnector3">
            <a:avLst>
              <a:gd fmla="val 50005" name="adj1"/>
            </a:avLst>
          </a:prstGeom>
          <a:noFill/>
          <a:ln cap="flat" cmpd="sng" w="23750">
            <a:solidFill>
              <a:schemeClr val="lt2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82" name="Google Shape;182;g3a0d244dc93_0_362"/>
          <p:cNvSpPr txBox="1"/>
          <p:nvPr/>
        </p:nvSpPr>
        <p:spPr>
          <a:xfrm>
            <a:off x="4553417" y="4350315"/>
            <a:ext cx="24297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175" lIns="68375" spcFirstLastPara="1" rIns="68375" wrap="square" tIns="341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4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this pixel gets weight 0.9</a:t>
            </a:r>
            <a:endParaRPr sz="1046"/>
          </a:p>
        </p:txBody>
      </p:sp>
      <p:pic>
        <p:nvPicPr>
          <p:cNvPr id="183" name="Google Shape;183;g3a0d244dc93_0_362"/>
          <p:cNvPicPr preferRelativeResize="0"/>
          <p:nvPr/>
        </p:nvPicPr>
        <p:blipFill rotWithShape="1">
          <a:blip r:embed="rId3">
            <a:alphaModFix/>
          </a:blip>
          <a:srcRect b="11398" l="13277" r="70037" t="12815"/>
          <a:stretch/>
        </p:blipFill>
        <p:spPr>
          <a:xfrm>
            <a:off x="1607325" y="1963588"/>
            <a:ext cx="995576" cy="178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a0d244dc93_0_310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Translational Invariance</a:t>
            </a:r>
            <a:endParaRPr/>
          </a:p>
        </p:txBody>
      </p:sp>
      <p:sp>
        <p:nvSpPr>
          <p:cNvPr id="190" name="Google Shape;190;g3a0d244dc93_0_31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1" name="Google Shape;191;g3a0d244dc93_0_3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71188" y="879875"/>
            <a:ext cx="3001636" cy="4071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a0d244dc93_0_382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Translational Invariance</a:t>
            </a:r>
            <a:endParaRPr/>
          </a:p>
        </p:txBody>
      </p:sp>
      <p:sp>
        <p:nvSpPr>
          <p:cNvPr id="197" name="Google Shape;197;g3a0d244dc93_0_38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8" name="Google Shape;198;g3a0d244dc93_0_382"/>
          <p:cNvSpPr txBox="1"/>
          <p:nvPr>
            <p:ph idx="4294967295" type="body"/>
          </p:nvPr>
        </p:nvSpPr>
        <p:spPr>
          <a:xfrm>
            <a:off x="324852" y="1036468"/>
            <a:ext cx="7886700" cy="32634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839" r="0" t="-2029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/>
              <a:t> </a:t>
            </a:r>
            <a:endParaRPr/>
          </a:p>
        </p:txBody>
      </p:sp>
      <p:pic>
        <p:nvPicPr>
          <p:cNvPr id="199" name="Google Shape;199;g3a0d244dc93_0_38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57236" y="2283816"/>
            <a:ext cx="3187556" cy="95904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g3a0d244dc93_0_38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577184" y="3261293"/>
            <a:ext cx="6359238" cy="12756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a0d244dc93_0_390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FCNN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 are </a:t>
            </a:r>
            <a:r>
              <a:rPr b="1" i="1" lang="en-US">
                <a:latin typeface="Calibri"/>
                <a:ea typeface="Calibri"/>
                <a:cs typeface="Calibri"/>
                <a:sym typeface="Calibri"/>
              </a:rPr>
              <a:t>not 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Translationally Invariant</a:t>
            </a:r>
            <a:endParaRPr/>
          </a:p>
        </p:txBody>
      </p:sp>
      <p:sp>
        <p:nvSpPr>
          <p:cNvPr id="206" name="Google Shape;206;g3a0d244dc93_0_39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7" name="Google Shape;207;g3a0d244dc93_0_390"/>
          <p:cNvPicPr preferRelativeResize="0"/>
          <p:nvPr/>
        </p:nvPicPr>
        <p:blipFill rotWithShape="1">
          <a:blip r:embed="rId3">
            <a:alphaModFix/>
          </a:blip>
          <a:srcRect b="0" l="43684" r="0" t="0"/>
          <a:stretch/>
        </p:blipFill>
        <p:spPr>
          <a:xfrm>
            <a:off x="1036862" y="2202880"/>
            <a:ext cx="2234426" cy="156362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8" name="Google Shape;208;g3a0d244dc93_0_390"/>
          <p:cNvGrpSpPr/>
          <p:nvPr/>
        </p:nvGrpSpPr>
        <p:grpSpPr>
          <a:xfrm>
            <a:off x="5572791" y="2209305"/>
            <a:ext cx="2234425" cy="1583982"/>
            <a:chOff x="6661222" y="2999806"/>
            <a:chExt cx="2979233" cy="2111976"/>
          </a:xfrm>
        </p:grpSpPr>
        <p:pic>
          <p:nvPicPr>
            <p:cNvPr id="209" name="Google Shape;209;g3a0d244dc93_0_390"/>
            <p:cNvPicPr preferRelativeResize="0"/>
            <p:nvPr/>
          </p:nvPicPr>
          <p:blipFill rotWithShape="1">
            <a:blip r:embed="rId3">
              <a:alphaModFix/>
            </a:blip>
            <a:srcRect b="0" l="43684" r="0" t="0"/>
            <a:stretch/>
          </p:blipFill>
          <p:spPr>
            <a:xfrm>
              <a:off x="6661222" y="2999806"/>
              <a:ext cx="2979233" cy="208483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g3a0d244dc93_0_39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267557" y="3058161"/>
              <a:ext cx="889000" cy="19994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g3a0d244dc93_0_390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7642118" y="3063901"/>
              <a:ext cx="676755" cy="204788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2" name="Google Shape;212;g3a0d244dc93_0_390"/>
          <p:cNvSpPr txBox="1"/>
          <p:nvPr/>
        </p:nvSpPr>
        <p:spPr>
          <a:xfrm>
            <a:off x="698802" y="4464919"/>
            <a:ext cx="3147900" cy="23070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19229" l="-299" r="0" t="0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latin typeface="Calibri"/>
                <a:ea typeface="Calibri"/>
                <a:cs typeface="Calibri"/>
                <a:sym typeface="Calibri"/>
              </a:rPr>
              <a:t> </a:t>
            </a:r>
            <a:endParaRPr sz="1100"/>
          </a:p>
        </p:txBody>
      </p:sp>
      <p:sp>
        <p:nvSpPr>
          <p:cNvPr id="213" name="Google Shape;213;g3a0d244dc93_0_390"/>
          <p:cNvSpPr txBox="1"/>
          <p:nvPr/>
        </p:nvSpPr>
        <p:spPr>
          <a:xfrm>
            <a:off x="5341994" y="4463180"/>
            <a:ext cx="3103200" cy="23070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-19239" l="-609" r="0" t="-3838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latin typeface="Calibri"/>
                <a:ea typeface="Calibri"/>
                <a:cs typeface="Calibri"/>
                <a:sym typeface="Calibri"/>
              </a:rPr>
              <a:t> </a:t>
            </a:r>
            <a:endParaRPr sz="1100"/>
          </a:p>
        </p:txBody>
      </p:sp>
      <p:sp>
        <p:nvSpPr>
          <p:cNvPr id="214" name="Google Shape;214;g3a0d244dc93_0_390"/>
          <p:cNvSpPr/>
          <p:nvPr/>
        </p:nvSpPr>
        <p:spPr>
          <a:xfrm>
            <a:off x="3776058" y="2796701"/>
            <a:ext cx="1500600" cy="18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g3a0d244dc93_0_390"/>
          <p:cNvSpPr txBox="1"/>
          <p:nvPr/>
        </p:nvSpPr>
        <p:spPr>
          <a:xfrm>
            <a:off x="1810755" y="952502"/>
            <a:ext cx="25026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How to make the network translationally invariant?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16" name="Google Shape;216;g3a0d244dc93_0_390"/>
          <p:cNvSpPr txBox="1"/>
          <p:nvPr/>
        </p:nvSpPr>
        <p:spPr>
          <a:xfrm>
            <a:off x="4370543" y="948638"/>
            <a:ext cx="21900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Focus on local differences/patterns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0d244dc93_0_376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Convolutional Neural Network</a:t>
            </a:r>
            <a:endParaRPr/>
          </a:p>
        </p:txBody>
      </p:sp>
      <p:sp>
        <p:nvSpPr>
          <p:cNvPr id="222" name="Google Shape;222;g3a0d244dc93_0_37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23" name="Google Shape;223;g3a0d244dc93_0_3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750" y="904250"/>
            <a:ext cx="7609343" cy="4070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a0d244dc93_0_537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What is a Convolution?</a:t>
            </a:r>
            <a:endParaRPr/>
          </a:p>
        </p:txBody>
      </p:sp>
      <p:sp>
        <p:nvSpPr>
          <p:cNvPr id="230" name="Google Shape;230;g3a0d244dc93_0_537"/>
          <p:cNvSpPr txBox="1"/>
          <p:nvPr/>
        </p:nvSpPr>
        <p:spPr>
          <a:xfrm>
            <a:off x="55936" y="845727"/>
            <a:ext cx="87075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Convolution is an operation that takes two inputs:</a:t>
            </a:r>
            <a:endParaRPr sz="2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g3a0d244dc93_0_537"/>
          <p:cNvSpPr txBox="1"/>
          <p:nvPr/>
        </p:nvSpPr>
        <p:spPr>
          <a:xfrm>
            <a:off x="55936" y="1377736"/>
            <a:ext cx="45153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(1) An greyscale image (2D – B/W)</a:t>
            </a:r>
            <a:endParaRPr/>
          </a:p>
        </p:txBody>
      </p:sp>
      <p:sp>
        <p:nvSpPr>
          <p:cNvPr id="232" name="Google Shape;232;g3a0d244dc93_0_537"/>
          <p:cNvSpPr txBox="1"/>
          <p:nvPr/>
        </p:nvSpPr>
        <p:spPr>
          <a:xfrm>
            <a:off x="5027659" y="1377718"/>
            <a:ext cx="49599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(2) A filter (also called a kernel)</a:t>
            </a:r>
            <a:endParaRPr/>
          </a:p>
        </p:txBody>
      </p:sp>
      <p:pic>
        <p:nvPicPr>
          <p:cNvPr id="233" name="Google Shape;233;g3a0d244dc93_0_537"/>
          <p:cNvPicPr preferRelativeResize="0"/>
          <p:nvPr/>
        </p:nvPicPr>
        <p:blipFill rotWithShape="1">
          <a:blip r:embed="rId3">
            <a:alphaModFix/>
          </a:blip>
          <a:srcRect b="0" l="0" r="64031" t="0"/>
          <a:stretch/>
        </p:blipFill>
        <p:spPr>
          <a:xfrm>
            <a:off x="901017" y="2335404"/>
            <a:ext cx="2460065" cy="22332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4" name="Google Shape;234;g3a0d244dc93_0_537"/>
          <p:cNvGraphicFramePr/>
          <p:nvPr/>
        </p:nvGraphicFramePr>
        <p:xfrm>
          <a:off x="5614700" y="2213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734300"/>
                <a:gridCol w="734300"/>
                <a:gridCol w="838050"/>
              </a:tblGrid>
              <a:tr h="7849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  <a:tr h="7849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  <a:tr h="7849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</a:tbl>
          </a:graphicData>
        </a:graphic>
      </p:graphicFrame>
      <p:sp>
        <p:nvSpPr>
          <p:cNvPr id="235" name="Google Shape;235;g3a0d244dc93_0_537"/>
          <p:cNvSpPr txBox="1"/>
          <p:nvPr/>
        </p:nvSpPr>
        <p:spPr>
          <a:xfrm>
            <a:off x="3970759" y="4681799"/>
            <a:ext cx="5325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2D array of numbers; could be any values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a0d244dc93_0_671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Convolution Operation</a:t>
            </a:r>
            <a:endParaRPr/>
          </a:p>
        </p:txBody>
      </p:sp>
      <p:sp>
        <p:nvSpPr>
          <p:cNvPr id="242" name="Google Shape;242;g3a0d244dc93_0_67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243" name="Google Shape;243;g3a0d244dc93_0_671"/>
          <p:cNvGraphicFramePr/>
          <p:nvPr/>
        </p:nvGraphicFramePr>
        <p:xfrm>
          <a:off x="560664" y="1462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703725"/>
                <a:gridCol w="703725"/>
                <a:gridCol w="703725"/>
                <a:gridCol w="703725"/>
              </a:tblGrid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3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7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4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sp>
        <p:nvSpPr>
          <p:cNvPr id="244" name="Google Shape;244;g3a0d244dc93_0_671"/>
          <p:cNvSpPr txBox="1"/>
          <p:nvPr/>
        </p:nvSpPr>
        <p:spPr>
          <a:xfrm>
            <a:off x="1649902" y="966225"/>
            <a:ext cx="1371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image</a:t>
            </a:r>
            <a:endParaRPr/>
          </a:p>
        </p:txBody>
      </p:sp>
      <p:grpSp>
        <p:nvGrpSpPr>
          <p:cNvPr id="245" name="Google Shape;245;g3a0d244dc93_0_671"/>
          <p:cNvGrpSpPr/>
          <p:nvPr/>
        </p:nvGrpSpPr>
        <p:grpSpPr>
          <a:xfrm>
            <a:off x="4043933" y="2571748"/>
            <a:ext cx="3589529" cy="2553139"/>
            <a:chOff x="5674295" y="4092498"/>
            <a:chExt cx="3589529" cy="2553139"/>
          </a:xfrm>
        </p:grpSpPr>
        <p:sp>
          <p:nvSpPr>
            <p:cNvPr id="246" name="Google Shape;246;g3a0d244dc93_0_671"/>
            <p:cNvSpPr txBox="1"/>
            <p:nvPr/>
          </p:nvSpPr>
          <p:spPr>
            <a:xfrm>
              <a:off x="5674295" y="4092498"/>
              <a:ext cx="715200" cy="617700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-7688" l="-1719" r="0" t="0"/>
              </a:stretch>
            </a:blip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Calibri"/>
                <a:buNone/>
              </a:pPr>
              <a:r>
                <a:rPr b="0" i="0" lang="en-US" sz="14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 </a:t>
              </a: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g3a0d244dc93_0_671"/>
            <p:cNvSpPr txBox="1"/>
            <p:nvPr/>
          </p:nvSpPr>
          <p:spPr>
            <a:xfrm>
              <a:off x="6031924" y="6060637"/>
              <a:ext cx="3231900" cy="58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(We use this symbol for convolution)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(The verb form is “convolve”)</a:t>
              </a:r>
              <a:endParaRPr/>
            </a:p>
          </p:txBody>
        </p:sp>
        <p:cxnSp>
          <p:nvCxnSpPr>
            <p:cNvPr id="248" name="Google Shape;248;g3a0d244dc93_0_671"/>
            <p:cNvCxnSpPr>
              <a:stCxn id="247" idx="0"/>
              <a:endCxn id="246" idx="2"/>
            </p:cNvCxnSpPr>
            <p:nvPr/>
          </p:nvCxnSpPr>
          <p:spPr>
            <a:xfrm flipH="1" rot="5400000">
              <a:off x="6164674" y="4577437"/>
              <a:ext cx="1350300" cy="1616100"/>
            </a:xfrm>
            <a:prstGeom prst="curvedConnector3">
              <a:avLst>
                <a:gd fmla="val 50005" name="adj1"/>
              </a:avLst>
            </a:prstGeom>
            <a:noFill/>
            <a:ln cap="flat" cmpd="sng" w="38100">
              <a:solidFill>
                <a:srgbClr val="000000"/>
              </a:solidFill>
              <a:prstDash val="dash"/>
              <a:miter lim="800000"/>
              <a:headEnd len="sm" w="sm" type="none"/>
              <a:tailEnd len="med" w="med" type="triangle"/>
            </a:ln>
          </p:spPr>
        </p:cxnSp>
      </p:grpSp>
      <p:sp>
        <p:nvSpPr>
          <p:cNvPr id="249" name="Google Shape;249;g3a0d244dc93_0_671"/>
          <p:cNvSpPr txBox="1"/>
          <p:nvPr/>
        </p:nvSpPr>
        <p:spPr>
          <a:xfrm>
            <a:off x="6320059" y="956933"/>
            <a:ext cx="2119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filter/kernel</a:t>
            </a:r>
            <a:endParaRPr/>
          </a:p>
        </p:txBody>
      </p:sp>
      <p:graphicFrame>
        <p:nvGraphicFramePr>
          <p:cNvPr id="250" name="Google Shape;250;g3a0d244dc93_0_671"/>
          <p:cNvGraphicFramePr/>
          <p:nvPr/>
        </p:nvGraphicFramePr>
        <p:xfrm>
          <a:off x="5917648" y="159085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674725"/>
                <a:gridCol w="674725"/>
                <a:gridCol w="770050"/>
              </a:tblGrid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a0d244dc93_0_686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Convolution Operation</a:t>
            </a:r>
            <a:endParaRPr/>
          </a:p>
        </p:txBody>
      </p:sp>
      <p:sp>
        <p:nvSpPr>
          <p:cNvPr id="257" name="Google Shape;257;g3a0d244dc93_0_68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58" name="Google Shape;258;g3a0d244dc93_0_6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66925" y="977200"/>
            <a:ext cx="5010150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a0d244dc93_0_694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CNN: Different Kernels</a:t>
            </a:r>
            <a:endParaRPr/>
          </a:p>
        </p:txBody>
      </p:sp>
      <p:sp>
        <p:nvSpPr>
          <p:cNvPr id="265" name="Google Shape;265;g3a0d244dc93_0_69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66" name="Google Shape;266;g3a0d244dc93_0_694"/>
          <p:cNvPicPr preferRelativeResize="0"/>
          <p:nvPr/>
        </p:nvPicPr>
        <p:blipFill rotWithShape="1">
          <a:blip r:embed="rId3">
            <a:alphaModFix/>
          </a:blip>
          <a:srcRect b="0" l="0" r="64031" t="0"/>
          <a:stretch/>
        </p:blipFill>
        <p:spPr>
          <a:xfrm>
            <a:off x="3316245" y="3719150"/>
            <a:ext cx="1390214" cy="1262036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g3a0d244dc93_0_694"/>
          <p:cNvSpPr txBox="1"/>
          <p:nvPr/>
        </p:nvSpPr>
        <p:spPr>
          <a:xfrm>
            <a:off x="3008657" y="1526243"/>
            <a:ext cx="444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Edge Detection / Outline Kernel</a:t>
            </a:r>
            <a:endParaRPr/>
          </a:p>
        </p:txBody>
      </p:sp>
      <p:graphicFrame>
        <p:nvGraphicFramePr>
          <p:cNvPr id="268" name="Google Shape;268;g3a0d244dc93_0_694"/>
          <p:cNvGraphicFramePr/>
          <p:nvPr/>
        </p:nvGraphicFramePr>
        <p:xfrm>
          <a:off x="3838325" y="202496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{665FD6A1-DC4D-412C-8A23-0941D8763586}</a:tableStyleId>
              </a:tblPr>
              <a:tblGrid>
                <a:gridCol w="668875"/>
                <a:gridCol w="668875"/>
                <a:gridCol w="668875"/>
              </a:tblGrid>
              <a:tr h="44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000000"/>
                          </a:solidFill>
                        </a:rPr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-1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</a:tr>
              <a:tr h="44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-1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</a:rPr>
                        <a:t>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-1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BE4D4"/>
                    </a:solidFill>
                  </a:tcPr>
                </a:tc>
              </a:tr>
              <a:tr h="44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-1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BE4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0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pic>
        <p:nvPicPr>
          <p:cNvPr id="269" name="Google Shape;269;g3a0d244dc93_0_694"/>
          <p:cNvPicPr preferRelativeResize="0"/>
          <p:nvPr/>
        </p:nvPicPr>
        <p:blipFill rotWithShape="1">
          <a:blip r:embed="rId3">
            <a:alphaModFix/>
          </a:blip>
          <a:srcRect b="0" l="51278" r="12497" t="0"/>
          <a:stretch/>
        </p:blipFill>
        <p:spPr>
          <a:xfrm>
            <a:off x="4835654" y="3727115"/>
            <a:ext cx="1400073" cy="1262036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g3a0d244dc93_0_694"/>
          <p:cNvSpPr txBox="1"/>
          <p:nvPr/>
        </p:nvSpPr>
        <p:spPr>
          <a:xfrm>
            <a:off x="7821725" y="1526241"/>
            <a:ext cx="228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Shift</a:t>
            </a:r>
            <a:endParaRPr/>
          </a:p>
        </p:txBody>
      </p:sp>
      <p:graphicFrame>
        <p:nvGraphicFramePr>
          <p:cNvPr id="271" name="Google Shape;271;g3a0d244dc93_0_694"/>
          <p:cNvGraphicFramePr/>
          <p:nvPr/>
        </p:nvGraphicFramePr>
        <p:xfrm>
          <a:off x="7137375" y="207124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{665FD6A1-DC4D-412C-8A23-0941D8763586}</a:tableStyleId>
              </a:tblPr>
              <a:tblGrid>
                <a:gridCol w="668875"/>
                <a:gridCol w="668875"/>
                <a:gridCol w="668875"/>
              </a:tblGrid>
              <a:tr h="44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</a:tr>
              <a:tr h="44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8DA9D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</a:tr>
              <a:tr h="44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</a:tr>
            </a:tbl>
          </a:graphicData>
        </a:graphic>
      </p:graphicFrame>
      <p:sp>
        <p:nvSpPr>
          <p:cNvPr id="272" name="Google Shape;272;g3a0d244dc93_0_694"/>
          <p:cNvSpPr txBox="1"/>
          <p:nvPr/>
        </p:nvSpPr>
        <p:spPr>
          <a:xfrm>
            <a:off x="149700" y="1526252"/>
            <a:ext cx="228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Blur</a:t>
            </a:r>
            <a:endParaRPr/>
          </a:p>
        </p:txBody>
      </p:sp>
      <p:graphicFrame>
        <p:nvGraphicFramePr>
          <p:cNvPr id="273" name="Google Shape;273;g3a0d244dc93_0_694"/>
          <p:cNvGraphicFramePr/>
          <p:nvPr/>
        </p:nvGraphicFramePr>
        <p:xfrm>
          <a:off x="124300" y="202498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{665FD6A1-DC4D-412C-8A23-0941D8763586}</a:tableStyleId>
              </a:tblPr>
              <a:tblGrid>
                <a:gridCol w="668875"/>
                <a:gridCol w="668875"/>
                <a:gridCol w="668875"/>
              </a:tblGrid>
              <a:tr h="44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1/9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1/9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1/9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</a:tr>
              <a:tr h="44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1/9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1/9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1/9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</a:tr>
              <a:tr h="44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1/9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1/9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>
                          <a:solidFill>
                            <a:srgbClr val="000000"/>
                          </a:solidFill>
                        </a:rPr>
                        <a:t>1/9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D8E2F3"/>
                    </a:solidFill>
                  </a:tcPr>
                </a:tc>
              </a:tr>
            </a:tbl>
          </a:graphicData>
        </a:graphic>
      </p:graphicFrame>
      <p:pic>
        <p:nvPicPr>
          <p:cNvPr id="274" name="Google Shape;274;g3a0d244dc93_0_69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65" y="3723134"/>
            <a:ext cx="1270000" cy="127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g3a0d244dc93_0_69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06675" y="3723134"/>
            <a:ext cx="1270000" cy="127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6" name="Google Shape;276;g3a0d244dc93_0_694"/>
          <p:cNvGrpSpPr/>
          <p:nvPr/>
        </p:nvGrpSpPr>
        <p:grpSpPr>
          <a:xfrm>
            <a:off x="6540749" y="3727092"/>
            <a:ext cx="2603242" cy="1262083"/>
            <a:chOff x="7958763" y="3987801"/>
            <a:chExt cx="3384790" cy="1640987"/>
          </a:xfrm>
        </p:grpSpPr>
        <p:pic>
          <p:nvPicPr>
            <p:cNvPr id="277" name="Google Shape;277;g3a0d244dc93_0_694"/>
            <p:cNvPicPr preferRelativeResize="0"/>
            <p:nvPr/>
          </p:nvPicPr>
          <p:blipFill rotWithShape="1">
            <a:blip r:embed="rId6">
              <a:alphaModFix/>
            </a:blip>
            <a:srcRect b="0" l="-6682" r="52528" t="0"/>
            <a:stretch/>
          </p:blipFill>
          <p:spPr>
            <a:xfrm>
              <a:off x="9746876" y="3992930"/>
              <a:ext cx="1596677" cy="16358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8" name="Google Shape;278;g3a0d244dc93_0_694"/>
            <p:cNvPicPr preferRelativeResize="0"/>
            <p:nvPr/>
          </p:nvPicPr>
          <p:blipFill rotWithShape="1">
            <a:blip r:embed="rId6">
              <a:alphaModFix/>
            </a:blip>
            <a:srcRect b="0" l="0" r="45846" t="0"/>
            <a:stretch/>
          </p:blipFill>
          <p:spPr>
            <a:xfrm>
              <a:off x="7974106" y="3987801"/>
              <a:ext cx="1596677" cy="163585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9" name="Google Shape;279;g3a0d244dc93_0_694"/>
            <p:cNvSpPr/>
            <p:nvPr/>
          </p:nvSpPr>
          <p:spPr>
            <a:xfrm>
              <a:off x="9737196" y="4010311"/>
              <a:ext cx="1596600" cy="1602600"/>
            </a:xfrm>
            <a:prstGeom prst="rect">
              <a:avLst/>
            </a:prstGeom>
            <a:noFill/>
            <a:ln cap="flat" cmpd="sng" w="29300">
              <a:solidFill>
                <a:srgbClr val="000000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35150" lIns="70325" spcFirstLastPara="1" rIns="70325" wrap="square" tIns="3515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45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" name="Google Shape;280;g3a0d244dc93_0_694"/>
            <p:cNvSpPr/>
            <p:nvPr/>
          </p:nvSpPr>
          <p:spPr>
            <a:xfrm>
              <a:off x="7958763" y="4010311"/>
              <a:ext cx="1596600" cy="1602600"/>
            </a:xfrm>
            <a:prstGeom prst="rect">
              <a:avLst/>
            </a:prstGeom>
            <a:noFill/>
            <a:ln cap="flat" cmpd="sng" w="29300">
              <a:solidFill>
                <a:srgbClr val="000000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35150" lIns="70325" spcFirstLastPara="1" rIns="70325" wrap="square" tIns="3515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45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a0d244dc93_0_762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CNN Kernel is learnable</a:t>
            </a:r>
            <a:endParaRPr/>
          </a:p>
        </p:txBody>
      </p:sp>
      <p:sp>
        <p:nvSpPr>
          <p:cNvPr id="287" name="Google Shape;287;g3a0d244dc93_0_76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8" name="Google Shape;288;g3a0d244dc93_0_762"/>
          <p:cNvSpPr txBox="1"/>
          <p:nvPr/>
        </p:nvSpPr>
        <p:spPr>
          <a:xfrm>
            <a:off x="1215551" y="1161600"/>
            <a:ext cx="1015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image</a:t>
            </a:r>
            <a:endParaRPr/>
          </a:p>
        </p:txBody>
      </p:sp>
      <p:graphicFrame>
        <p:nvGraphicFramePr>
          <p:cNvPr id="289" name="Google Shape;289;g3a0d244dc93_0_762"/>
          <p:cNvGraphicFramePr/>
          <p:nvPr/>
        </p:nvGraphicFramePr>
        <p:xfrm>
          <a:off x="7209913" y="248374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843475"/>
                <a:gridCol w="843475"/>
              </a:tblGrid>
              <a:tr h="6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-4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-3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803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-9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sp>
        <p:nvSpPr>
          <p:cNvPr id="290" name="Google Shape;290;g3a0d244dc93_0_762"/>
          <p:cNvSpPr txBox="1"/>
          <p:nvPr/>
        </p:nvSpPr>
        <p:spPr>
          <a:xfrm>
            <a:off x="7598774" y="1161600"/>
            <a:ext cx="1181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endParaRPr/>
          </a:p>
        </p:txBody>
      </p:sp>
      <p:sp>
        <p:nvSpPr>
          <p:cNvPr id="291" name="Google Shape;291;g3a0d244dc93_0_762"/>
          <p:cNvSpPr/>
          <p:nvPr/>
        </p:nvSpPr>
        <p:spPr>
          <a:xfrm>
            <a:off x="7334547" y="3762547"/>
            <a:ext cx="231900" cy="231900"/>
          </a:xfrm>
          <a:prstGeom prst="rect">
            <a:avLst/>
          </a:prstGeom>
          <a:solidFill>
            <a:srgbClr val="4472C4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g3a0d244dc93_0_762"/>
          <p:cNvSpPr txBox="1"/>
          <p:nvPr/>
        </p:nvSpPr>
        <p:spPr>
          <a:xfrm>
            <a:off x="3410021" y="2856290"/>
            <a:ext cx="715200" cy="6177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7688" l="-1719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93" name="Google Shape;293;g3a0d244dc93_0_762"/>
          <p:cNvGraphicFramePr/>
          <p:nvPr/>
        </p:nvGraphicFramePr>
        <p:xfrm>
          <a:off x="511814" y="16575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703725"/>
                <a:gridCol w="703725"/>
                <a:gridCol w="703725"/>
                <a:gridCol w="703725"/>
              </a:tblGrid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3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7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4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4" name="Google Shape;294;g3a0d244dc93_0_762"/>
          <p:cNvGraphicFramePr/>
          <p:nvPr/>
        </p:nvGraphicFramePr>
        <p:xfrm>
          <a:off x="4208571" y="2065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674725"/>
                <a:gridCol w="674725"/>
                <a:gridCol w="770050"/>
              </a:tblGrid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</a:tbl>
          </a:graphicData>
        </a:graphic>
      </p:graphicFrame>
      <p:sp>
        <p:nvSpPr>
          <p:cNvPr id="295" name="Google Shape;295;g3a0d244dc93_0_762"/>
          <p:cNvSpPr txBox="1"/>
          <p:nvPr/>
        </p:nvSpPr>
        <p:spPr>
          <a:xfrm>
            <a:off x="6411363" y="2811162"/>
            <a:ext cx="683100" cy="708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96" name="Google Shape;296;g3a0d244dc93_0_762"/>
          <p:cNvSpPr txBox="1"/>
          <p:nvPr/>
        </p:nvSpPr>
        <p:spPr>
          <a:xfrm>
            <a:off x="4549871" y="1152300"/>
            <a:ext cx="1458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filter/kernel</a:t>
            </a:r>
            <a:endParaRPr/>
          </a:p>
        </p:txBody>
      </p:sp>
      <p:graphicFrame>
        <p:nvGraphicFramePr>
          <p:cNvPr id="297" name="Google Shape;297;g3a0d244dc93_0_762"/>
          <p:cNvGraphicFramePr/>
          <p:nvPr/>
        </p:nvGraphicFramePr>
        <p:xfrm>
          <a:off x="7202186" y="247614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843475"/>
                <a:gridCol w="843475"/>
              </a:tblGrid>
              <a:tr h="6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?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?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803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?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?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8" name="Google Shape;298;g3a0d244dc93_0_762"/>
          <p:cNvGraphicFramePr/>
          <p:nvPr/>
        </p:nvGraphicFramePr>
        <p:xfrm>
          <a:off x="4208546" y="2094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674725"/>
                <a:gridCol w="674725"/>
                <a:gridCol w="770050"/>
              </a:tblGrid>
              <a:tr h="73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99" name="Google Shape;299;g3a0d244dc93_0_762"/>
          <p:cNvSpPr txBox="1"/>
          <p:nvPr/>
        </p:nvSpPr>
        <p:spPr>
          <a:xfrm>
            <a:off x="4671846" y="4646735"/>
            <a:ext cx="3851700" cy="491400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22498" l="-659" r="-1639" t="-749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a0d244dc93_0_159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CNN: Pooling Layer</a:t>
            </a:r>
            <a:endParaRPr/>
          </a:p>
        </p:txBody>
      </p:sp>
      <p:sp>
        <p:nvSpPr>
          <p:cNvPr id="305" name="Google Shape;305;g3a0d244dc93_0_15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06" name="Google Shape;306;g3a0d244dc93_0_1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8550" y="1340625"/>
            <a:ext cx="3676650" cy="27081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a0d244dc93_0_781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Pooling and Invariance</a:t>
            </a:r>
            <a:endParaRPr/>
          </a:p>
        </p:txBody>
      </p:sp>
      <p:sp>
        <p:nvSpPr>
          <p:cNvPr id="313" name="Google Shape;313;g3a0d244dc93_0_78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14" name="Google Shape;314;g3a0d244dc93_0_7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425" y="932325"/>
            <a:ext cx="8176153" cy="407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a0d244dc93_0_915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Are CNN translational invariant?</a:t>
            </a:r>
            <a:endParaRPr/>
          </a:p>
        </p:txBody>
      </p:sp>
      <p:sp>
        <p:nvSpPr>
          <p:cNvPr id="321" name="Google Shape;321;g3a0d244dc93_0_91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2" name="Google Shape;322;g3a0d244dc93_0_915"/>
          <p:cNvPicPr preferRelativeResize="0"/>
          <p:nvPr/>
        </p:nvPicPr>
        <p:blipFill rotWithShape="1">
          <a:blip r:embed="rId3">
            <a:alphaModFix/>
          </a:blip>
          <a:srcRect b="8357" l="0" r="0" t="0"/>
          <a:stretch/>
        </p:blipFill>
        <p:spPr>
          <a:xfrm>
            <a:off x="318024" y="983174"/>
            <a:ext cx="3053484" cy="28045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g3a0d244dc93_0_915"/>
          <p:cNvPicPr preferRelativeResize="0"/>
          <p:nvPr/>
        </p:nvPicPr>
        <p:blipFill rotWithShape="1">
          <a:blip r:embed="rId4">
            <a:alphaModFix/>
          </a:blip>
          <a:srcRect b="8357" l="0" r="0" t="0"/>
          <a:stretch/>
        </p:blipFill>
        <p:spPr>
          <a:xfrm>
            <a:off x="4524520" y="1011250"/>
            <a:ext cx="3019825" cy="2804596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g3a0d244dc93_0_915"/>
          <p:cNvSpPr/>
          <p:nvPr/>
        </p:nvSpPr>
        <p:spPr>
          <a:xfrm>
            <a:off x="392422" y="3768705"/>
            <a:ext cx="7326000" cy="2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9350" lIns="78725" spcFirstLastPara="1" rIns="78725" wrap="square" tIns="393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47"/>
              <a:buFont typeface="Calibri"/>
              <a:buNone/>
            </a:pPr>
            <a:r>
              <a:rPr b="0" i="0" lang="en-US" sz="947" u="sng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https://dsp.stackexchange.com/questions/24900/translation-invariance-in-max-pooling-and-cascading-with-convolutional-layer</a:t>
            </a:r>
            <a:endParaRPr b="0" i="0" sz="94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5" name="Google Shape;325;g3a0d244dc93_0_915"/>
          <p:cNvGrpSpPr/>
          <p:nvPr/>
        </p:nvGrpSpPr>
        <p:grpSpPr>
          <a:xfrm>
            <a:off x="3498373" y="2005284"/>
            <a:ext cx="949511" cy="589679"/>
            <a:chOff x="4732256" y="4490466"/>
            <a:chExt cx="1102800" cy="684877"/>
          </a:xfrm>
        </p:grpSpPr>
        <p:sp>
          <p:nvSpPr>
            <p:cNvPr id="326" name="Google Shape;326;g3a0d244dc93_0_915"/>
            <p:cNvSpPr/>
            <p:nvPr/>
          </p:nvSpPr>
          <p:spPr>
            <a:xfrm>
              <a:off x="4732256" y="4798243"/>
              <a:ext cx="1102800" cy="3771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39350" lIns="78725" spcFirstLastPara="1" rIns="78725" wrap="square" tIns="393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5"/>
                <a:buFont typeface="Calibri"/>
                <a:buNone/>
              </a:pPr>
              <a:r>
                <a:t/>
              </a:r>
              <a:endParaRPr b="0" i="0" sz="1205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" name="Google Shape;327;g3a0d244dc93_0_915"/>
            <p:cNvSpPr txBox="1"/>
            <p:nvPr/>
          </p:nvSpPr>
          <p:spPr>
            <a:xfrm>
              <a:off x="4785440" y="4490466"/>
              <a:ext cx="931800" cy="30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9350" lIns="78725" spcFirstLastPara="1" rIns="78725" wrap="square" tIns="3935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5"/>
                <a:buFont typeface="Calibri"/>
                <a:buNone/>
              </a:pPr>
              <a:r>
                <a:rPr b="0" i="0" lang="en-US" sz="1205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Max Pool</a:t>
              </a:r>
              <a:endParaRPr sz="1549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" name="Google Shape;328;g3a0d244dc93_0_915"/>
          <p:cNvGrpSpPr/>
          <p:nvPr/>
        </p:nvGrpSpPr>
        <p:grpSpPr>
          <a:xfrm>
            <a:off x="7532260" y="1150206"/>
            <a:ext cx="1540433" cy="2548646"/>
            <a:chOff x="9417375" y="3497344"/>
            <a:chExt cx="1789121" cy="2960100"/>
          </a:xfrm>
        </p:grpSpPr>
        <p:sp>
          <p:nvSpPr>
            <p:cNvPr id="329" name="Google Shape;329;g3a0d244dc93_0_915"/>
            <p:cNvSpPr/>
            <p:nvPr/>
          </p:nvSpPr>
          <p:spPr>
            <a:xfrm>
              <a:off x="9417375" y="3497344"/>
              <a:ext cx="122400" cy="2960100"/>
            </a:xfrm>
            <a:prstGeom prst="rightBracket">
              <a:avLst>
                <a:gd fmla="val 8333" name="adj"/>
              </a:avLst>
            </a:prstGeom>
            <a:noFill/>
            <a:ln cap="flat" cmpd="sng" w="24600">
              <a:solidFill>
                <a:srgbClr val="ED7D3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9350" lIns="78725" spcFirstLastPara="1" rIns="78725" wrap="square" tIns="393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5"/>
                <a:buFont typeface="Calibri"/>
                <a:buNone/>
              </a:pPr>
              <a:r>
                <a:t/>
              </a:r>
              <a:endParaRPr b="0" i="0" sz="1205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" name="Google Shape;330;g3a0d244dc93_0_915"/>
            <p:cNvSpPr txBox="1"/>
            <p:nvPr/>
          </p:nvSpPr>
          <p:spPr>
            <a:xfrm>
              <a:off x="9486896" y="4290411"/>
              <a:ext cx="1719600" cy="7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9350" lIns="78725" spcFirstLastPara="1" rIns="78725" wrap="square" tIns="3935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ts val="1722"/>
                <a:buFont typeface="Calibri"/>
                <a:buNone/>
              </a:pPr>
              <a:r>
                <a:rPr b="0" i="0" lang="en-US" sz="1721" u="none" cap="none" strike="noStrike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These are </a:t>
              </a:r>
              <a:r>
                <a:rPr b="1" i="1" lang="en-US" sz="1721" u="none" cap="none" strike="noStrike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not</a:t>
              </a:r>
              <a:r>
                <a:rPr b="0" i="0" lang="en-US" sz="1721" u="none" cap="none" strike="noStrike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 all the same!</a:t>
              </a:r>
              <a:endParaRPr sz="1549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1" name="Google Shape;331;g3a0d244dc93_0_915"/>
          <p:cNvSpPr txBox="1"/>
          <p:nvPr/>
        </p:nvSpPr>
        <p:spPr>
          <a:xfrm>
            <a:off x="85475" y="4003250"/>
            <a:ext cx="9144000" cy="11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Answer: CNNs are “sort of” translation invariant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Shifting the content of the image around tends not to drastically effect the output classification probabilities...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It is a local operator. Achieves </a:t>
            </a:r>
            <a:r>
              <a:rPr b="1" lang="en-US">
                <a:latin typeface="Calibri"/>
                <a:ea typeface="Calibri"/>
                <a:cs typeface="Calibri"/>
                <a:sym typeface="Calibri"/>
              </a:rPr>
              <a:t>partial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 invariance to </a:t>
            </a:r>
            <a:r>
              <a:rPr b="1" lang="en-US">
                <a:latin typeface="Calibri"/>
                <a:ea typeface="Calibri"/>
                <a:cs typeface="Calibri"/>
                <a:sym typeface="Calibri"/>
              </a:rPr>
              <a:t>small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 translations.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...but they are </a:t>
            </a:r>
            <a:r>
              <a:rPr b="1" i="1" lang="en-US">
                <a:latin typeface="Calibri"/>
                <a:ea typeface="Calibri"/>
                <a:cs typeface="Calibri"/>
                <a:sym typeface="Calibri"/>
              </a:rPr>
              <a:t>not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, strictly speaking, translation invariant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a0d244dc93_0_789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Shift Invariance in CNN</a:t>
            </a:r>
            <a:endParaRPr/>
          </a:p>
        </p:txBody>
      </p:sp>
      <p:sp>
        <p:nvSpPr>
          <p:cNvPr id="338" name="Google Shape;338;g3a0d244dc93_0_78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39" name="Google Shape;339;g3a0d244dc93_0_789" title="1_uZ8kByev1Lc5oiDh2jxr7Q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950" y="834600"/>
            <a:ext cx="7538888" cy="407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a0d244dc93_0_822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CNN: Kernel &amp; Filter</a:t>
            </a:r>
            <a:endParaRPr/>
          </a:p>
        </p:txBody>
      </p:sp>
      <p:sp>
        <p:nvSpPr>
          <p:cNvPr id="345" name="Google Shape;345;g3a0d244dc93_0_82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46" name="Google Shape;346;g3a0d244dc93_0_8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025" y="830650"/>
            <a:ext cx="5010150" cy="365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g3a0d244dc93_0_8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65275" y="1305388"/>
            <a:ext cx="3676649" cy="2708136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g3a0d244dc93_0_822"/>
          <p:cNvSpPr txBox="1"/>
          <p:nvPr/>
        </p:nvSpPr>
        <p:spPr>
          <a:xfrm>
            <a:off x="944225" y="4621700"/>
            <a:ext cx="252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Roboto"/>
                <a:ea typeface="Roboto"/>
                <a:cs typeface="Roboto"/>
                <a:sym typeface="Roboto"/>
              </a:rPr>
              <a:t>Convolutional Layer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g3a0d244dc93_0_822"/>
          <p:cNvSpPr txBox="1"/>
          <p:nvPr/>
        </p:nvSpPr>
        <p:spPr>
          <a:xfrm>
            <a:off x="5999050" y="4621700"/>
            <a:ext cx="2524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Roboto"/>
                <a:ea typeface="Roboto"/>
                <a:cs typeface="Roboto"/>
                <a:sym typeface="Roboto"/>
              </a:rPr>
              <a:t>Pooling Layer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a0d244dc93_0_718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Stride</a:t>
            </a:r>
            <a:endParaRPr/>
          </a:p>
        </p:txBody>
      </p:sp>
      <p:sp>
        <p:nvSpPr>
          <p:cNvPr id="356" name="Google Shape;356;g3a0d244dc93_0_71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7" name="Google Shape;357;g3a0d244dc93_0_718"/>
          <p:cNvSpPr txBox="1"/>
          <p:nvPr/>
        </p:nvSpPr>
        <p:spPr>
          <a:xfrm>
            <a:off x="460952" y="946576"/>
            <a:ext cx="8222100" cy="30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</a:pP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 don’t just have to slide the filter by one pixel every time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</a:pP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distance we slide a filter by is called </a:t>
            </a:r>
            <a:r>
              <a:rPr b="1" i="1"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stride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</a:pP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All the examples we’ve seen thus far have been stride = 1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8" name="Google Shape;358;g3a0d244dc93_0_718"/>
          <p:cNvGraphicFramePr/>
          <p:nvPr/>
        </p:nvGraphicFramePr>
        <p:xfrm>
          <a:off x="5379464" y="216331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703725"/>
                <a:gridCol w="703725"/>
                <a:gridCol w="703725"/>
                <a:gridCol w="703725"/>
              </a:tblGrid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3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7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4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9" name="Google Shape;359;g3a0d244dc93_0_718"/>
          <p:cNvGraphicFramePr/>
          <p:nvPr/>
        </p:nvGraphicFramePr>
        <p:xfrm>
          <a:off x="838840" y="216331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703725"/>
                <a:gridCol w="703725"/>
                <a:gridCol w="703725"/>
                <a:gridCol w="703725"/>
              </a:tblGrid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3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7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90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4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sp>
        <p:nvSpPr>
          <p:cNvPr id="360" name="Google Shape;360;g3a0d244dc93_0_718"/>
          <p:cNvSpPr/>
          <p:nvPr/>
        </p:nvSpPr>
        <p:spPr>
          <a:xfrm>
            <a:off x="3855464" y="3437530"/>
            <a:ext cx="1308900" cy="358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g3a0d244dc93_0_718"/>
          <p:cNvSpPr txBox="1"/>
          <p:nvPr/>
        </p:nvSpPr>
        <p:spPr>
          <a:xfrm>
            <a:off x="3963522" y="3081200"/>
            <a:ext cx="109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stride = 1</a:t>
            </a:r>
            <a:endParaRPr/>
          </a:p>
        </p:txBody>
      </p:sp>
      <p:graphicFrame>
        <p:nvGraphicFramePr>
          <p:cNvPr id="362" name="Google Shape;362;g3a0d244dc93_0_718"/>
          <p:cNvGraphicFramePr/>
          <p:nvPr/>
        </p:nvGraphicFramePr>
        <p:xfrm>
          <a:off x="6067904" y="216591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674725"/>
                <a:gridCol w="674725"/>
                <a:gridCol w="770050"/>
              </a:tblGrid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63" name="Google Shape;363;g3a0d244dc93_0_718"/>
          <p:cNvGraphicFramePr/>
          <p:nvPr/>
        </p:nvGraphicFramePr>
        <p:xfrm>
          <a:off x="838840" y="216593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674725"/>
                <a:gridCol w="674725"/>
                <a:gridCol w="770050"/>
              </a:tblGrid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  <a:tr h="7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2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-1</a:t>
                      </a:r>
                      <a:endParaRPr b="1" sz="32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a0d244dc93_0_736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Stride</a:t>
            </a:r>
            <a:endParaRPr/>
          </a:p>
        </p:txBody>
      </p:sp>
      <p:sp>
        <p:nvSpPr>
          <p:cNvPr id="370" name="Google Shape;370;g3a0d244dc93_0_73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A close up of a logo&#10;&#10;Description automatically generated" id="371" name="Google Shape;371;g3a0d244dc93_0_7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22108" y="1005656"/>
            <a:ext cx="2948927" cy="28887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close up of a logo&#10;&#10;Description automatically generated" id="372" name="Google Shape;372;g3a0d244dc93_0_7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5781" y="1031604"/>
            <a:ext cx="2682912" cy="283685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g3a0d244dc93_0_736"/>
          <p:cNvSpPr txBox="1"/>
          <p:nvPr/>
        </p:nvSpPr>
        <p:spPr>
          <a:xfrm>
            <a:off x="201479" y="974360"/>
            <a:ext cx="10695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6475" lIns="72975" spcFirstLastPara="1" rIns="72975" wrap="square" tIns="364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16"/>
              <a:buFont typeface="Arial"/>
              <a:buNone/>
            </a:pPr>
            <a:r>
              <a:rPr lang="en-US" sz="19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Stride: 1</a:t>
            </a:r>
            <a:endParaRPr sz="1117"/>
          </a:p>
        </p:txBody>
      </p:sp>
      <p:sp>
        <p:nvSpPr>
          <p:cNvPr id="374" name="Google Shape;374;g3a0d244dc93_0_736"/>
          <p:cNvSpPr txBox="1"/>
          <p:nvPr/>
        </p:nvSpPr>
        <p:spPr>
          <a:xfrm>
            <a:off x="5169296" y="974360"/>
            <a:ext cx="10695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6475" lIns="72975" spcFirstLastPara="1" rIns="72975" wrap="square" tIns="364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16"/>
              <a:buFont typeface="Arial"/>
              <a:buNone/>
            </a:pPr>
            <a:r>
              <a:rPr lang="en-US" sz="19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Stride: 2</a:t>
            </a:r>
            <a:endParaRPr sz="1117"/>
          </a:p>
        </p:txBody>
      </p:sp>
      <p:sp>
        <p:nvSpPr>
          <p:cNvPr id="375" name="Google Shape;375;g3a0d244dc93_0_736"/>
          <p:cNvSpPr txBox="1"/>
          <p:nvPr/>
        </p:nvSpPr>
        <p:spPr>
          <a:xfrm>
            <a:off x="7679498" y="963911"/>
            <a:ext cx="10944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475" lIns="72975" spcFirstLastPara="1" rIns="72975" wrap="square" tIns="364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6">
                <a:solidFill>
                  <a:srgbClr val="2AA098"/>
                </a:solidFill>
                <a:latin typeface="Calibri"/>
                <a:ea typeface="Calibri"/>
                <a:cs typeface="Calibri"/>
                <a:sym typeface="Calibri"/>
              </a:rPr>
              <a:t>Output size: 2x2</a:t>
            </a:r>
            <a:endParaRPr sz="1117"/>
          </a:p>
        </p:txBody>
      </p:sp>
      <p:sp>
        <p:nvSpPr>
          <p:cNvPr id="376" name="Google Shape;376;g3a0d244dc93_0_736"/>
          <p:cNvSpPr txBox="1"/>
          <p:nvPr/>
        </p:nvSpPr>
        <p:spPr>
          <a:xfrm>
            <a:off x="7961814" y="3347902"/>
            <a:ext cx="9867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475" lIns="72975" spcFirstLastPara="1" rIns="72975" wrap="square" tIns="364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6">
                <a:solidFill>
                  <a:srgbClr val="268AD0"/>
                </a:solidFill>
                <a:latin typeface="Calibri"/>
                <a:ea typeface="Calibri"/>
                <a:cs typeface="Calibri"/>
                <a:sym typeface="Calibri"/>
              </a:rPr>
              <a:t>Input size: 5x5</a:t>
            </a:r>
            <a:endParaRPr sz="1117"/>
          </a:p>
        </p:txBody>
      </p:sp>
      <p:sp>
        <p:nvSpPr>
          <p:cNvPr id="377" name="Google Shape;377;g3a0d244dc93_0_736"/>
          <p:cNvSpPr txBox="1"/>
          <p:nvPr/>
        </p:nvSpPr>
        <p:spPr>
          <a:xfrm>
            <a:off x="3251186" y="967206"/>
            <a:ext cx="10944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475" lIns="72975" spcFirstLastPara="1" rIns="72975" wrap="square" tIns="364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6">
                <a:solidFill>
                  <a:srgbClr val="2AA098"/>
                </a:solidFill>
                <a:latin typeface="Calibri"/>
                <a:ea typeface="Calibri"/>
                <a:cs typeface="Calibri"/>
                <a:sym typeface="Calibri"/>
              </a:rPr>
              <a:t>Output size: 2x2</a:t>
            </a:r>
            <a:endParaRPr sz="1117"/>
          </a:p>
        </p:txBody>
      </p:sp>
      <p:sp>
        <p:nvSpPr>
          <p:cNvPr id="378" name="Google Shape;378;g3a0d244dc93_0_736"/>
          <p:cNvSpPr txBox="1"/>
          <p:nvPr/>
        </p:nvSpPr>
        <p:spPr>
          <a:xfrm>
            <a:off x="2888752" y="3347902"/>
            <a:ext cx="1018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475" lIns="72975" spcFirstLastPara="1" rIns="72975" wrap="square" tIns="364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6">
                <a:solidFill>
                  <a:srgbClr val="268AD0"/>
                </a:solidFill>
                <a:latin typeface="Calibri"/>
                <a:ea typeface="Calibri"/>
                <a:cs typeface="Calibri"/>
                <a:sym typeface="Calibri"/>
              </a:rPr>
              <a:t>Input size: 4x4 </a:t>
            </a:r>
            <a:endParaRPr sz="1117"/>
          </a:p>
        </p:txBody>
      </p:sp>
      <p:sp>
        <p:nvSpPr>
          <p:cNvPr id="379" name="Google Shape;379;g3a0d244dc93_0_736"/>
          <p:cNvSpPr txBox="1"/>
          <p:nvPr/>
        </p:nvSpPr>
        <p:spPr>
          <a:xfrm>
            <a:off x="1660335" y="4226360"/>
            <a:ext cx="6301500" cy="7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475" lIns="72975" spcFirstLastPara="1" rIns="72975" wrap="square" tIns="364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Larger stride turns a bigger input into the same size output</a:t>
            </a:r>
            <a:endParaRPr sz="1117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3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Corollary</a:t>
            </a:r>
            <a:r>
              <a:rPr lang="en-US" sz="143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Larger stride turns the same size input into a </a:t>
            </a:r>
            <a:r>
              <a:rPr i="1" lang="en-US" sz="143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smaller</a:t>
            </a:r>
            <a:r>
              <a:rPr lang="en-US" sz="143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output</a:t>
            </a:r>
            <a:endParaRPr sz="1117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6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 this to (controllably) decrease image resolution!</a:t>
            </a:r>
            <a:endParaRPr sz="1117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a0d244dc93_0_806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CNN Architecture</a:t>
            </a:r>
            <a:endParaRPr/>
          </a:p>
        </p:txBody>
      </p:sp>
      <p:sp>
        <p:nvSpPr>
          <p:cNvPr id="386" name="Google Shape;386;g3a0d244dc93_0_80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87" name="Google Shape;387;g3a0d244dc93_0_80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750" y="904250"/>
            <a:ext cx="7609343" cy="4070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a0d244dc93_0_798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CNN layers and features</a:t>
            </a:r>
            <a:endParaRPr/>
          </a:p>
        </p:txBody>
      </p:sp>
      <p:sp>
        <p:nvSpPr>
          <p:cNvPr id="394" name="Google Shape;394;g3a0d244dc93_0_79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95" name="Google Shape;395;g3a0d244dc93_0_798"/>
          <p:cNvPicPr preferRelativeResize="0"/>
          <p:nvPr/>
        </p:nvPicPr>
        <p:blipFill rotWithShape="1">
          <a:blip r:embed="rId3">
            <a:alphaModFix/>
          </a:blip>
          <a:srcRect b="0" l="0" r="0" t="26231"/>
          <a:stretch/>
        </p:blipFill>
        <p:spPr>
          <a:xfrm>
            <a:off x="828700" y="947075"/>
            <a:ext cx="7486597" cy="4142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a0d244dc93_0_814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CNN: Learning features</a:t>
            </a:r>
            <a:endParaRPr/>
          </a:p>
        </p:txBody>
      </p:sp>
      <p:sp>
        <p:nvSpPr>
          <p:cNvPr id="402" name="Google Shape;402;g3a0d244dc93_0_81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03" name="Google Shape;403;g3a0d244dc93_0_8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7288" y="952300"/>
            <a:ext cx="6829425" cy="37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a0d244dc93_0_896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Padding</a:t>
            </a:r>
            <a:endParaRPr/>
          </a:p>
        </p:txBody>
      </p:sp>
      <p:sp>
        <p:nvSpPr>
          <p:cNvPr id="410" name="Google Shape;410;g3a0d244dc93_0_89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411" name="Google Shape;411;g3a0d244dc93_0_896"/>
          <p:cNvGraphicFramePr/>
          <p:nvPr/>
        </p:nvGraphicFramePr>
        <p:xfrm>
          <a:off x="370747" y="207228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726275"/>
                <a:gridCol w="726275"/>
                <a:gridCol w="726275"/>
                <a:gridCol w="726275"/>
              </a:tblGrid>
              <a:tr h="6742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3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742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742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  <a:tr h="6742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3600"/>
                        <a:buFont typeface="Arial"/>
                        <a:buNone/>
                      </a:pPr>
                      <a:r>
                        <a:rPr b="1" lang="en-US" sz="36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36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sp>
        <p:nvSpPr>
          <p:cNvPr id="412" name="Google Shape;412;g3a0d244dc93_0_896"/>
          <p:cNvSpPr txBox="1"/>
          <p:nvPr/>
        </p:nvSpPr>
        <p:spPr>
          <a:xfrm>
            <a:off x="805793" y="1156000"/>
            <a:ext cx="2224500" cy="9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Valid</a:t>
            </a:r>
            <a:endParaRPr b="1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Filter only slides over “Valid” regions of the data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g3a0d244dc93_0_896"/>
          <p:cNvSpPr txBox="1"/>
          <p:nvPr/>
        </p:nvSpPr>
        <p:spPr>
          <a:xfrm>
            <a:off x="5335100" y="678625"/>
            <a:ext cx="3348600" cy="11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Same</a:t>
            </a:r>
            <a:endParaRPr b="1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Filter slides over the bounds of the data, ensuring output size is the “Same” as input size (when stride = 1)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14" name="Google Shape;414;g3a0d244dc93_0_896"/>
          <p:cNvGraphicFramePr/>
          <p:nvPr/>
        </p:nvGraphicFramePr>
        <p:xfrm>
          <a:off x="5335090" y="18405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{381D43BA-6141-4454-86F5-6EDCB21AD3FA}</a:tableStyleId>
              </a:tblPr>
              <a:tblGrid>
                <a:gridCol w="558100"/>
                <a:gridCol w="558100"/>
                <a:gridCol w="558100"/>
                <a:gridCol w="558100"/>
                <a:gridCol w="558100"/>
                <a:gridCol w="558100"/>
              </a:tblGrid>
              <a:tr h="4348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48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3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48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3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48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4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3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2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48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8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3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3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48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b="1" sz="2400" u="none" cap="none" strike="noStrik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a0d244dc93_0_908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Hands on: Image Classification</a:t>
            </a:r>
            <a:endParaRPr/>
          </a:p>
        </p:txBody>
      </p:sp>
      <p:sp>
        <p:nvSpPr>
          <p:cNvPr id="421" name="Google Shape;421;g3a0d244dc93_0_90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22" name="Google Shape;422;g3a0d244dc93_0_9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46475" y="846850"/>
            <a:ext cx="4251043" cy="4070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a0d244dc93_0_934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CNN: Seismic Image to Soil Profile</a:t>
            </a:r>
            <a:endParaRPr/>
          </a:p>
        </p:txBody>
      </p:sp>
      <p:sp>
        <p:nvSpPr>
          <p:cNvPr id="429" name="Google Shape;429;g3a0d244dc93_0_93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0" name="Google Shape;430;g3a0d244dc93_0_9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76713" y="956750"/>
            <a:ext cx="3990570" cy="407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g3a0d244dc93_0_934"/>
          <p:cNvSpPr txBox="1"/>
          <p:nvPr/>
        </p:nvSpPr>
        <p:spPr>
          <a:xfrm>
            <a:off x="6567275" y="4396165"/>
            <a:ext cx="3468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Abbas et al., (2022)</a:t>
            </a:r>
            <a:endParaRPr sz="13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a0d244dc93_0_944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CNN: FWI</a:t>
            </a:r>
            <a:endParaRPr/>
          </a:p>
        </p:txBody>
      </p:sp>
      <p:sp>
        <p:nvSpPr>
          <p:cNvPr id="438" name="Google Shape;438;g3a0d244dc93_0_94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9" name="Google Shape;439;g3a0d244dc93_0_9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3350" y="956750"/>
            <a:ext cx="6237296" cy="4071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a0d244dc93_0_952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CNN Architecture</a:t>
            </a:r>
            <a:endParaRPr/>
          </a:p>
        </p:txBody>
      </p:sp>
      <p:sp>
        <p:nvSpPr>
          <p:cNvPr id="446" name="Google Shape;446;g3a0d244dc93_0_95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47" name="Google Shape;447;g3a0d244dc93_0_9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950" y="920100"/>
            <a:ext cx="8085389" cy="3623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a0d244dc93_0_168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Building damage classifier - an explanation</a:t>
            </a:r>
            <a:endParaRPr/>
          </a:p>
        </p:txBody>
      </p:sp>
      <p:sp>
        <p:nvSpPr>
          <p:cNvPr id="453" name="Google Shape;453;g3a0d244dc93_0_16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54" name="Google Shape;454;g3a0d244dc93_0_168"/>
          <p:cNvPicPr preferRelativeResize="0"/>
          <p:nvPr/>
        </p:nvPicPr>
        <p:blipFill rotWithShape="1">
          <a:blip r:embed="rId3">
            <a:alphaModFix/>
          </a:blip>
          <a:srcRect b="0" l="0" r="31408" t="0"/>
          <a:stretch/>
        </p:blipFill>
        <p:spPr>
          <a:xfrm>
            <a:off x="2916063" y="890550"/>
            <a:ext cx="2457725" cy="246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g3a0d244dc93_0_1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025" y="870350"/>
            <a:ext cx="1878301" cy="2504402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g3a0d244dc93_0_168"/>
          <p:cNvPicPr preferRelativeResize="0"/>
          <p:nvPr/>
        </p:nvPicPr>
        <p:blipFill rotWithShape="1">
          <a:blip r:embed="rId5">
            <a:alphaModFix/>
          </a:blip>
          <a:srcRect b="0" l="26627" r="0" t="0"/>
          <a:stretch/>
        </p:blipFill>
        <p:spPr>
          <a:xfrm>
            <a:off x="6308525" y="890575"/>
            <a:ext cx="2629001" cy="2382875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g3a0d244dc93_0_168"/>
          <p:cNvSpPr txBox="1"/>
          <p:nvPr/>
        </p:nvSpPr>
        <p:spPr>
          <a:xfrm>
            <a:off x="324925" y="3629775"/>
            <a:ext cx="119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Roboto"/>
                <a:ea typeface="Roboto"/>
                <a:cs typeface="Roboto"/>
                <a:sym typeface="Roboto"/>
              </a:rPr>
              <a:t>Undamaged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8" name="Google Shape;458;g3a0d244dc93_0_168"/>
          <p:cNvSpPr txBox="1"/>
          <p:nvPr/>
        </p:nvSpPr>
        <p:spPr>
          <a:xfrm>
            <a:off x="3178024" y="3629775"/>
            <a:ext cx="196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Roboto"/>
                <a:ea typeface="Roboto"/>
                <a:cs typeface="Roboto"/>
                <a:sym typeface="Roboto"/>
              </a:rPr>
              <a:t>Partially-damaged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9" name="Google Shape;459;g3a0d244dc93_0_168"/>
          <p:cNvSpPr txBox="1"/>
          <p:nvPr/>
        </p:nvSpPr>
        <p:spPr>
          <a:xfrm>
            <a:off x="6640224" y="3629775"/>
            <a:ext cx="196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Roboto"/>
                <a:ea typeface="Roboto"/>
                <a:cs typeface="Roboto"/>
                <a:sym typeface="Roboto"/>
              </a:rPr>
              <a:t>Completely-destroyed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3a0d244dc93_0_179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Explaining a building image classifier</a:t>
            </a:r>
            <a:endParaRPr/>
          </a:p>
        </p:txBody>
      </p:sp>
      <p:sp>
        <p:nvSpPr>
          <p:cNvPr id="465" name="Google Shape;465;g3a0d244dc93_0_17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66" name="Google Shape;466;g3a0d244dc93_0_1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000" y="1469752"/>
            <a:ext cx="4332425" cy="2881199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g3a0d244dc93_0_179"/>
          <p:cNvSpPr txBox="1"/>
          <p:nvPr/>
        </p:nvSpPr>
        <p:spPr>
          <a:xfrm>
            <a:off x="4572000" y="4398575"/>
            <a:ext cx="3381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Predicted class: General Collapse</a:t>
            </a:r>
            <a:endParaRPr/>
          </a:p>
        </p:txBody>
      </p:sp>
      <p:pic>
        <p:nvPicPr>
          <p:cNvPr id="468" name="Google Shape;468;g3a0d244dc93_0_17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1469751"/>
            <a:ext cx="4417776" cy="2881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69" name="Google Shape;469;g3a0d244dc93_0_179"/>
          <p:cNvCxnSpPr/>
          <p:nvPr/>
        </p:nvCxnSpPr>
        <p:spPr>
          <a:xfrm flipH="1">
            <a:off x="2143200" y="1200150"/>
            <a:ext cx="1095300" cy="781200"/>
          </a:xfrm>
          <a:prstGeom prst="straightConnector1">
            <a:avLst/>
          </a:prstGeom>
          <a:noFill/>
          <a:ln cap="flat" cmpd="sng" w="38100">
            <a:solidFill>
              <a:srgbClr val="FB002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70" name="Google Shape;470;g3a0d244dc93_0_179"/>
          <p:cNvSpPr txBox="1"/>
          <p:nvPr/>
        </p:nvSpPr>
        <p:spPr>
          <a:xfrm>
            <a:off x="3286125" y="981075"/>
            <a:ext cx="548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Roboto"/>
                <a:ea typeface="Roboto"/>
                <a:cs typeface="Roboto"/>
                <a:sym typeface="Roboto"/>
              </a:rPr>
              <a:t>Sky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g3a0d244dc93_0_179"/>
          <p:cNvSpPr txBox="1"/>
          <p:nvPr/>
        </p:nvSpPr>
        <p:spPr>
          <a:xfrm>
            <a:off x="4572000" y="469232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Transfer learning prediction: Ants</a:t>
            </a:r>
            <a:endParaRPr/>
          </a:p>
        </p:txBody>
      </p:sp>
      <p:cxnSp>
        <p:nvCxnSpPr>
          <p:cNvPr id="472" name="Google Shape;472;g3a0d244dc93_0_179"/>
          <p:cNvCxnSpPr/>
          <p:nvPr/>
        </p:nvCxnSpPr>
        <p:spPr>
          <a:xfrm rot="10800000">
            <a:off x="1771813" y="2924219"/>
            <a:ext cx="1251600" cy="1934100"/>
          </a:xfrm>
          <a:prstGeom prst="straightConnector1">
            <a:avLst/>
          </a:prstGeom>
          <a:noFill/>
          <a:ln cap="flat" cmpd="sng" w="38100">
            <a:solidFill>
              <a:srgbClr val="FB002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73" name="Google Shape;473;g3a0d244dc93_0_179"/>
          <p:cNvSpPr txBox="1"/>
          <p:nvPr/>
        </p:nvSpPr>
        <p:spPr>
          <a:xfrm>
            <a:off x="3012825" y="4610100"/>
            <a:ext cx="1095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Roboto"/>
                <a:ea typeface="Roboto"/>
                <a:cs typeface="Roboto"/>
                <a:sym typeface="Roboto"/>
              </a:rPr>
              <a:t>rubble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a0d244dc93_0_192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GradCAM Explanation</a:t>
            </a:r>
            <a:endParaRPr/>
          </a:p>
        </p:txBody>
      </p:sp>
      <p:sp>
        <p:nvSpPr>
          <p:cNvPr id="479" name="Google Shape;479;g3a0d244dc93_0_19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0" name="Google Shape;480;g3a0d244dc93_0_1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36675"/>
            <a:ext cx="5835151" cy="263835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g3a0d244dc93_0_192"/>
          <p:cNvSpPr txBox="1"/>
          <p:nvPr/>
        </p:nvSpPr>
        <p:spPr>
          <a:xfrm>
            <a:off x="0" y="47433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http://gradcam.cloudcv.org/</a:t>
            </a:r>
            <a:endParaRPr/>
          </a:p>
        </p:txBody>
      </p:sp>
      <p:pic>
        <p:nvPicPr>
          <p:cNvPr id="482" name="Google Shape;482;g3a0d244dc93_0_19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1" y="767700"/>
            <a:ext cx="3180875" cy="14363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3" name="Google Shape;483;g3a0d244dc93_0_192"/>
          <p:cNvGrpSpPr/>
          <p:nvPr/>
        </p:nvGrpSpPr>
        <p:grpSpPr>
          <a:xfrm>
            <a:off x="5904703" y="2136684"/>
            <a:ext cx="3167396" cy="2465194"/>
            <a:chOff x="1146750" y="831562"/>
            <a:chExt cx="6638851" cy="4257675"/>
          </a:xfrm>
        </p:grpSpPr>
        <p:pic>
          <p:nvPicPr>
            <p:cNvPr id="484" name="Google Shape;484;g3a0d244dc93_0_192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257300" y="831574"/>
              <a:ext cx="6528301" cy="4257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85" name="Google Shape;485;g3a0d244dc93_0_192"/>
            <p:cNvPicPr preferRelativeResize="0"/>
            <p:nvPr/>
          </p:nvPicPr>
          <p:blipFill rotWithShape="1">
            <a:blip r:embed="rId6">
              <a:alphaModFix amt="41000"/>
            </a:blip>
            <a:srcRect b="3910" l="8324" r="0" t="9576"/>
            <a:stretch/>
          </p:blipFill>
          <p:spPr>
            <a:xfrm rot="10800000">
              <a:off x="1146750" y="831562"/>
              <a:ext cx="6599000" cy="42576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86" name="Google Shape;486;g3a0d244dc93_0_192"/>
          <p:cNvGrpSpPr/>
          <p:nvPr/>
        </p:nvGrpSpPr>
        <p:grpSpPr>
          <a:xfrm>
            <a:off x="1475150" y="3786811"/>
            <a:ext cx="592185" cy="579895"/>
            <a:chOff x="1146750" y="831562"/>
            <a:chExt cx="6638851" cy="4257675"/>
          </a:xfrm>
        </p:grpSpPr>
        <p:pic>
          <p:nvPicPr>
            <p:cNvPr id="487" name="Google Shape;487;g3a0d244dc93_0_192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257300" y="831574"/>
              <a:ext cx="6528301" cy="4257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88" name="Google Shape;488;g3a0d244dc93_0_192"/>
            <p:cNvPicPr preferRelativeResize="0"/>
            <p:nvPr/>
          </p:nvPicPr>
          <p:blipFill rotWithShape="1">
            <a:blip r:embed="rId6">
              <a:alphaModFix amt="41000"/>
            </a:blip>
            <a:srcRect b="3910" l="8324" r="0" t="9576"/>
            <a:stretch/>
          </p:blipFill>
          <p:spPr>
            <a:xfrm rot="10800000">
              <a:off x="1146750" y="831562"/>
              <a:ext cx="6599000" cy="425767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489" name="Google Shape;489;g3a0d244dc93_0_19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75150" y="2956050"/>
            <a:ext cx="592176" cy="5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g3a0d244dc93_0_192"/>
          <p:cNvSpPr txBox="1"/>
          <p:nvPr/>
        </p:nvSpPr>
        <p:spPr>
          <a:xfrm>
            <a:off x="5286450" y="4075050"/>
            <a:ext cx="548700" cy="4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Roboto"/>
                <a:ea typeface="Roboto"/>
                <a:cs typeface="Roboto"/>
                <a:sym typeface="Roboto"/>
              </a:rPr>
              <a:t>GC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3a0d244dc93_0_208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/>
              <a:t>Convolutional Neural Network for inverse problem</a:t>
            </a:r>
            <a:endParaRPr sz="2800"/>
          </a:p>
        </p:txBody>
      </p:sp>
      <p:sp>
        <p:nvSpPr>
          <p:cNvPr id="496" name="Google Shape;496;g3a0d244dc93_0_20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97" name="Google Shape;497;g3a0d244dc93_0_2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30820"/>
            <a:ext cx="9144003" cy="1852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8" name="Google Shape;498;g3a0d244dc93_0_20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3137925"/>
            <a:ext cx="4499201" cy="145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g3a0d244dc93_0_20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375" y="3137926"/>
            <a:ext cx="4657350" cy="14287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g3a0d244dc93_0_208"/>
          <p:cNvSpPr txBox="1"/>
          <p:nvPr/>
        </p:nvSpPr>
        <p:spPr>
          <a:xfrm>
            <a:off x="1640525" y="4590875"/>
            <a:ext cx="1188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Roboto"/>
                <a:ea typeface="Roboto"/>
                <a:cs typeface="Roboto"/>
                <a:sym typeface="Roboto"/>
              </a:rPr>
              <a:t>True Model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g3a0d244dc93_0_208"/>
          <p:cNvSpPr txBox="1"/>
          <p:nvPr/>
        </p:nvSpPr>
        <p:spPr>
          <a:xfrm>
            <a:off x="6227150" y="4566625"/>
            <a:ext cx="1188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Roboto"/>
                <a:ea typeface="Roboto"/>
                <a:cs typeface="Roboto"/>
                <a:sym typeface="Roboto"/>
              </a:rPr>
              <a:t>Predictions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a0d244dc93_0_218"/>
          <p:cNvSpPr/>
          <p:nvPr/>
        </p:nvSpPr>
        <p:spPr>
          <a:xfrm>
            <a:off x="7848850" y="3849200"/>
            <a:ext cx="786900" cy="393600"/>
          </a:xfrm>
          <a:prstGeom prst="star7">
            <a:avLst>
              <a:gd fmla="val 34601" name="adj"/>
              <a:gd fmla="val 102572" name="hf"/>
              <a:gd fmla="val 105210" name="vf"/>
            </a:avLst>
          </a:prstGeom>
          <a:solidFill>
            <a:srgbClr val="FCE5C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g3a0d244dc93_0_218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How to design a CNN</a:t>
            </a:r>
            <a:endParaRPr/>
          </a:p>
        </p:txBody>
      </p:sp>
      <p:sp>
        <p:nvSpPr>
          <p:cNvPr id="508" name="Google Shape;508;g3a0d244dc93_0_21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509" name="Google Shape;509;g3a0d244dc93_0_2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30820"/>
            <a:ext cx="9144003" cy="1852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0" name="Google Shape;510;g3a0d244dc93_0_2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0950" y="2865956"/>
            <a:ext cx="3577250" cy="215497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11" name="Google Shape;511;g3a0d244dc93_0_218"/>
          <p:cNvGraphicFramePr/>
          <p:nvPr/>
        </p:nvGraphicFramePr>
        <p:xfrm>
          <a:off x="4744700" y="3453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{154A8317-BDE1-4527-A689-9862FD0966E3}</a:tableStyleId>
              </a:tblPr>
              <a:tblGrid>
                <a:gridCol w="1168525"/>
                <a:gridCol w="1576450"/>
                <a:gridCol w="1582575"/>
              </a:tblGrid>
              <a:tr h="3809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MAPE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/>
                        <a:t>Kernel Size: 3x1</a:t>
                      </a:r>
                      <a:endParaRPr b="1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/>
                        <a:t>Kernel Size: 3x3</a:t>
                      </a:r>
                      <a:endParaRPr b="1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6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/>
                        <a:t>Deep (5)</a:t>
                      </a:r>
                      <a:endParaRPr b="1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11.3 %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/>
                        <a:t>8.5 %</a:t>
                      </a:r>
                      <a:endParaRPr b="1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6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/>
                        <a:t>Shallow (3)</a:t>
                      </a:r>
                      <a:endParaRPr b="1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12.1 %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11.2 %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a0d244dc93_0_227"/>
          <p:cNvSpPr txBox="1"/>
          <p:nvPr>
            <p:ph type="title"/>
          </p:nvPr>
        </p:nvSpPr>
        <p:spPr>
          <a:xfrm>
            <a:off x="460950" y="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/>
              <a:t>Designing a neural network with explainability</a:t>
            </a:r>
            <a:endParaRPr sz="3000"/>
          </a:p>
        </p:txBody>
      </p:sp>
      <p:sp>
        <p:nvSpPr>
          <p:cNvPr id="517" name="Google Shape;517;g3a0d244dc93_0_22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518" name="Google Shape;518;g3a0d244dc93_0_227"/>
          <p:cNvPicPr preferRelativeResize="0"/>
          <p:nvPr/>
        </p:nvPicPr>
        <p:blipFill rotWithShape="1">
          <a:blip r:embed="rId3">
            <a:alphaModFix/>
          </a:blip>
          <a:srcRect b="0" l="36516" r="0" t="0"/>
          <a:stretch/>
        </p:blipFill>
        <p:spPr>
          <a:xfrm>
            <a:off x="2892275" y="690275"/>
            <a:ext cx="4763525" cy="222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9" name="Google Shape;519;g3a0d244dc93_0_2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00400" y="2838100"/>
            <a:ext cx="5290130" cy="225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0" name="Google Shape;520;g3a0d244dc93_0_227"/>
          <p:cNvPicPr preferRelativeResize="0"/>
          <p:nvPr/>
        </p:nvPicPr>
        <p:blipFill rotWithShape="1">
          <a:blip r:embed="rId3">
            <a:alphaModFix/>
          </a:blip>
          <a:srcRect b="0" l="0" r="63484" t="0"/>
          <a:stretch/>
        </p:blipFill>
        <p:spPr>
          <a:xfrm>
            <a:off x="152400" y="689050"/>
            <a:ext cx="2739874" cy="222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6-9 White Backgroud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2011-06-30T15:04:08Z</dcterms:created>
  <dc:creator>University Marketing and Creative Services</dc:creator>
</cp:coreProperties>
</file>