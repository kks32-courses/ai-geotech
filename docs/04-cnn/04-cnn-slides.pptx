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y="5143500" cx="9144000"/>
  <p:notesSz cx="6858000" cy="9313850"/>
  <p:embeddedFontLst>
    <p:embeddedFont>
      <p:font typeface="Roboto"/>
      <p:regular r:id="rId45"/>
      <p:bold r:id="rId46"/>
      <p:italic r:id="rId47"/>
      <p:boldItalic r:id="rId48"/>
    </p:embeddedFont>
    <p:embeddedFont>
      <p:font typeface="Arial Black"/>
      <p:regular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hdKPByrI3EhgF2kWjMLoh0Ju4+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1D43BA-6141-4454-86F5-6EDCB21AD3FA}">
  <a:tblStyle styleId="{381D43BA-6141-4454-86F5-6EDCB21AD3F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65FD6A1-DC4D-412C-8A23-0941D8763586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  <a:tblStyle styleId="{154A8317-BDE1-4527-A689-9862FD0966E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font" Target="fonts/Roboto-bold.fntdata"/><Relationship Id="rId45" Type="http://schemas.openxmlformats.org/officeDocument/2006/relationships/font" Target="fonts/Robot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Roboto-boldItalic.fntdata"/><Relationship Id="rId47" Type="http://schemas.openxmlformats.org/officeDocument/2006/relationships/font" Target="fonts/Roboto-italic.fntdata"/><Relationship Id="rId49" Type="http://schemas.openxmlformats.org/officeDocument/2006/relationships/font" Target="fonts/ArialBlack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27025" y="700088"/>
            <a:ext cx="6203950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6554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25" spcFirstLastPara="1" rIns="91325" wrap="square" tIns="45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846554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/>
          <p:nvPr>
            <p:ph idx="2" type="sldImg"/>
          </p:nvPr>
        </p:nvSpPr>
        <p:spPr>
          <a:xfrm>
            <a:off x="327025" y="700088"/>
            <a:ext cx="6203950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 txBox="1"/>
          <p:nvPr>
            <p:ph idx="12" type="sldNum"/>
          </p:nvPr>
        </p:nvSpPr>
        <p:spPr>
          <a:xfrm>
            <a:off x="3884613" y="8846554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d244dc93_0_300:notes"/>
          <p:cNvSpPr/>
          <p:nvPr>
            <p:ph idx="2" type="sldImg"/>
          </p:nvPr>
        </p:nvSpPr>
        <p:spPr>
          <a:xfrm>
            <a:off x="381300" y="698539"/>
            <a:ext cx="6096000" cy="349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d244dc93_0_300:notes"/>
          <p:cNvSpPr txBox="1"/>
          <p:nvPr>
            <p:ph idx="1" type="body"/>
          </p:nvPr>
        </p:nvSpPr>
        <p:spPr>
          <a:xfrm>
            <a:off x="685800" y="4424079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d244dc93_0_318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0d244dc93_0_318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a0d244dc93_0_318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0d244dc93_0_327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0d244dc93_0_327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a0d244dc93_0_327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0d244dc93_0_338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0d244dc93_0_338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a0d244dc93_0_338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0d244dc93_0_346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0d244dc93_0_346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0d244dc93_0_346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0d244dc93_0_362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0d244dc93_0_362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a0d244dc93_0_362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0d244dc93_0_310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0d244dc93_0_310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a0d244dc93_0_310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0d244dc93_0_382:notes"/>
          <p:cNvSpPr txBox="1"/>
          <p:nvPr>
            <p:ph idx="1" type="body"/>
          </p:nvPr>
        </p:nvSpPr>
        <p:spPr>
          <a:xfrm>
            <a:off x="685800" y="4482290"/>
            <a:ext cx="5486400" cy="36675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0d244dc93_0_382:notes"/>
          <p:cNvSpPr/>
          <p:nvPr>
            <p:ph idx="2" type="sldImg"/>
          </p:nvPr>
        </p:nvSpPr>
        <p:spPr>
          <a:xfrm>
            <a:off x="685800" y="1164231"/>
            <a:ext cx="5486400" cy="3143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0d244dc93_0_390:notes"/>
          <p:cNvSpPr txBox="1"/>
          <p:nvPr>
            <p:ph idx="1" type="body"/>
          </p:nvPr>
        </p:nvSpPr>
        <p:spPr>
          <a:xfrm>
            <a:off x="685800" y="4482290"/>
            <a:ext cx="5486400" cy="36675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a0d244dc93_0_390:notes"/>
          <p:cNvSpPr/>
          <p:nvPr>
            <p:ph idx="2" type="sldImg"/>
          </p:nvPr>
        </p:nvSpPr>
        <p:spPr>
          <a:xfrm>
            <a:off x="685800" y="1164231"/>
            <a:ext cx="5486400" cy="3143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0d244dc93_0_376:notes"/>
          <p:cNvSpPr/>
          <p:nvPr>
            <p:ph idx="2" type="sldImg"/>
          </p:nvPr>
        </p:nvSpPr>
        <p:spPr>
          <a:xfrm>
            <a:off x="381300" y="698539"/>
            <a:ext cx="6096000" cy="349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0d244dc93_0_376:notes"/>
          <p:cNvSpPr txBox="1"/>
          <p:nvPr>
            <p:ph idx="1" type="body"/>
          </p:nvPr>
        </p:nvSpPr>
        <p:spPr>
          <a:xfrm>
            <a:off x="685800" y="4424079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0d244dc93_0_537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0d244dc93_0_537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0d244dc93_0_537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0d244dc93_0_671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0d244dc93_0_671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a0d244dc93_0_671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0d244dc93_0_686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0d244dc93_0_686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a0d244dc93_0_686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0d244dc93_0_694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a0d244dc93_0_694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0d244dc93_0_694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0d244dc93_0_762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0d244dc93_0_762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a0d244dc93_0_762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0d244dc93_0_159:notes"/>
          <p:cNvSpPr/>
          <p:nvPr>
            <p:ph idx="2" type="sldImg"/>
          </p:nvPr>
        </p:nvSpPr>
        <p:spPr>
          <a:xfrm>
            <a:off x="381300" y="698539"/>
            <a:ext cx="6096000" cy="349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0d244dc93_0_159:notes"/>
          <p:cNvSpPr txBox="1"/>
          <p:nvPr>
            <p:ph idx="1" type="body"/>
          </p:nvPr>
        </p:nvSpPr>
        <p:spPr>
          <a:xfrm>
            <a:off x="685800" y="4424079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0d244dc93_0_781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0d244dc93_0_781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a0d244dc93_0_781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0d244dc93_0_915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0d244dc93_0_915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a0d244dc93_0_915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0d244dc93_0_789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0d244dc93_0_789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a0d244dc93_0_789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0d244dc93_0_822:notes"/>
          <p:cNvSpPr/>
          <p:nvPr>
            <p:ph idx="2" type="sldImg"/>
          </p:nvPr>
        </p:nvSpPr>
        <p:spPr>
          <a:xfrm>
            <a:off x="381300" y="698539"/>
            <a:ext cx="6096000" cy="349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0d244dc93_0_822:notes"/>
          <p:cNvSpPr txBox="1"/>
          <p:nvPr>
            <p:ph idx="1" type="body"/>
          </p:nvPr>
        </p:nvSpPr>
        <p:spPr>
          <a:xfrm>
            <a:off x="685800" y="4424079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0d244dc93_0_718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0d244dc93_0_718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a0d244dc93_0_718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0d244dc93_0_736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0d244dc93_0_736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a0d244dc93_0_736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0d244dc93_0_806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0d244dc93_0_806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a0d244dc93_0_806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0d244dc93_0_798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0d244dc93_0_798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a0d244dc93_0_798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d244dc93_0_814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0d244dc93_0_814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a0d244dc93_0_814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0d244dc93_0_896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0d244dc93_0_896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a0d244dc93_0_896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0d244dc93_0_908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0d244dc93_0_908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a0d244dc93_0_908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0d244dc93_0_934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a0d244dc93_0_934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a0d244dc93_0_934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0d244dc93_0_944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a0d244dc93_0_944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a0d244dc93_0_944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0d244dc93_0_952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a0d244dc93_0_952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a0d244dc93_0_952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0d244dc93_0_168:notes"/>
          <p:cNvSpPr/>
          <p:nvPr>
            <p:ph idx="2" type="sldImg"/>
          </p:nvPr>
        </p:nvSpPr>
        <p:spPr>
          <a:xfrm>
            <a:off x="381300" y="698539"/>
            <a:ext cx="6096000" cy="349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0d244dc93_0_168:notes"/>
          <p:cNvSpPr txBox="1"/>
          <p:nvPr>
            <p:ph idx="1" type="body"/>
          </p:nvPr>
        </p:nvSpPr>
        <p:spPr>
          <a:xfrm>
            <a:off x="685800" y="4424079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a0d244dc93_0_179:notes"/>
          <p:cNvSpPr/>
          <p:nvPr>
            <p:ph idx="2" type="sldImg"/>
          </p:nvPr>
        </p:nvSpPr>
        <p:spPr>
          <a:xfrm>
            <a:off x="381300" y="698539"/>
            <a:ext cx="6096000" cy="349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a0d244dc93_0_179:notes"/>
          <p:cNvSpPr txBox="1"/>
          <p:nvPr>
            <p:ph idx="1" type="body"/>
          </p:nvPr>
        </p:nvSpPr>
        <p:spPr>
          <a:xfrm>
            <a:off x="685800" y="4424079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0d244dc93_0_192:notes"/>
          <p:cNvSpPr/>
          <p:nvPr>
            <p:ph idx="2" type="sldImg"/>
          </p:nvPr>
        </p:nvSpPr>
        <p:spPr>
          <a:xfrm>
            <a:off x="381300" y="698539"/>
            <a:ext cx="6096000" cy="349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a0d244dc93_0_192:notes"/>
          <p:cNvSpPr txBox="1"/>
          <p:nvPr>
            <p:ph idx="1" type="body"/>
          </p:nvPr>
        </p:nvSpPr>
        <p:spPr>
          <a:xfrm>
            <a:off x="685800" y="4424079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0d244dc93_0_208:notes"/>
          <p:cNvSpPr/>
          <p:nvPr>
            <p:ph idx="2" type="sldImg"/>
          </p:nvPr>
        </p:nvSpPr>
        <p:spPr>
          <a:xfrm>
            <a:off x="381300" y="698539"/>
            <a:ext cx="6096000" cy="349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a0d244dc93_0_208:notes"/>
          <p:cNvSpPr txBox="1"/>
          <p:nvPr>
            <p:ph idx="1" type="body"/>
          </p:nvPr>
        </p:nvSpPr>
        <p:spPr>
          <a:xfrm>
            <a:off x="685800" y="4424079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a0d244dc93_0_218:notes"/>
          <p:cNvSpPr/>
          <p:nvPr>
            <p:ph idx="2" type="sldImg"/>
          </p:nvPr>
        </p:nvSpPr>
        <p:spPr>
          <a:xfrm>
            <a:off x="381300" y="698539"/>
            <a:ext cx="6096000" cy="349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a0d244dc93_0_218:notes"/>
          <p:cNvSpPr txBox="1"/>
          <p:nvPr>
            <p:ph idx="1" type="body"/>
          </p:nvPr>
        </p:nvSpPr>
        <p:spPr>
          <a:xfrm>
            <a:off x="685800" y="4424079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0d244dc93_0_227:notes"/>
          <p:cNvSpPr/>
          <p:nvPr>
            <p:ph idx="2" type="sldImg"/>
          </p:nvPr>
        </p:nvSpPr>
        <p:spPr>
          <a:xfrm>
            <a:off x="381300" y="698539"/>
            <a:ext cx="6096000" cy="349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a0d244dc93_0_227:notes"/>
          <p:cNvSpPr txBox="1"/>
          <p:nvPr>
            <p:ph idx="1" type="body"/>
          </p:nvPr>
        </p:nvSpPr>
        <p:spPr>
          <a:xfrm>
            <a:off x="685800" y="4424079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8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b="1" sz="40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9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9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0"/>
          <p:cNvSpPr txBox="1"/>
          <p:nvPr>
            <p:ph type="title"/>
          </p:nvPr>
        </p:nvSpPr>
        <p:spPr>
          <a:xfrm>
            <a:off x="457200" y="7774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0"/>
          <p:cNvSpPr txBox="1"/>
          <p:nvPr>
            <p:ph idx="1" type="body"/>
          </p:nvPr>
        </p:nvSpPr>
        <p:spPr>
          <a:xfrm>
            <a:off x="457200" y="1771650"/>
            <a:ext cx="822960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/>
          <p:nvPr>
            <p:ph idx="10" type="dt"/>
          </p:nvPr>
        </p:nvSpPr>
        <p:spPr>
          <a:xfrm>
            <a:off x="7734132" y="4656582"/>
            <a:ext cx="647867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7"/>
          <p:cNvSpPr txBox="1"/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7"/>
          <p:cNvSpPr txBox="1"/>
          <p:nvPr>
            <p:ph idx="1" type="body"/>
          </p:nvPr>
        </p:nvSpPr>
        <p:spPr>
          <a:xfrm>
            <a:off x="457200" y="1749028"/>
            <a:ext cx="4038600" cy="3108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67"/>
          <p:cNvSpPr txBox="1"/>
          <p:nvPr>
            <p:ph idx="2" type="body"/>
          </p:nvPr>
        </p:nvSpPr>
        <p:spPr>
          <a:xfrm>
            <a:off x="4648200" y="1749028"/>
            <a:ext cx="4038600" cy="3108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8"/>
          <p:cNvSpPr txBox="1"/>
          <p:nvPr>
            <p:ph type="title"/>
          </p:nvPr>
        </p:nvSpPr>
        <p:spPr>
          <a:xfrm>
            <a:off x="420688" y="641510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8"/>
          <p:cNvSpPr txBox="1"/>
          <p:nvPr>
            <p:ph idx="1" type="body"/>
          </p:nvPr>
        </p:nvSpPr>
        <p:spPr>
          <a:xfrm>
            <a:off x="3575050" y="920884"/>
            <a:ext cx="5111750" cy="4051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0" name="Google Shape;30;p68"/>
          <p:cNvSpPr txBox="1"/>
          <p:nvPr>
            <p:ph idx="2" type="body"/>
          </p:nvPr>
        </p:nvSpPr>
        <p:spPr>
          <a:xfrm>
            <a:off x="420688" y="1601629"/>
            <a:ext cx="3008313" cy="31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9"/>
          <p:cNvSpPr txBox="1"/>
          <p:nvPr>
            <p:ph type="title"/>
          </p:nvPr>
        </p:nvSpPr>
        <p:spPr>
          <a:xfrm>
            <a:off x="1792288" y="3829050"/>
            <a:ext cx="5486400" cy="4257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9"/>
          <p:cNvSpPr/>
          <p:nvPr>
            <p:ph idx="2" type="pic"/>
          </p:nvPr>
        </p:nvSpPr>
        <p:spPr>
          <a:xfrm>
            <a:off x="1792288" y="685800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69"/>
          <p:cNvSpPr txBox="1"/>
          <p:nvPr>
            <p:ph idx="1" type="body"/>
          </p:nvPr>
        </p:nvSpPr>
        <p:spPr>
          <a:xfrm>
            <a:off x="1792288" y="4254817"/>
            <a:ext cx="5486400" cy="602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0d244dc93_0_239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0d244dc93_0_239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a0d244dc93_0_239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g3a0d244dc93_0_239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g3a0d244dc93_0_2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0d244dc93_0_24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g3a0d244dc93_0_2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0d244dc93_0_248"/>
          <p:cNvSpPr/>
          <p:nvPr/>
        </p:nvSpPr>
        <p:spPr>
          <a:xfrm flipH="1" rot="10800000">
            <a:off x="0" y="789900"/>
            <a:ext cx="9144000" cy="435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a0d244dc93_0_248"/>
          <p:cNvSpPr/>
          <p:nvPr/>
        </p:nvSpPr>
        <p:spPr>
          <a:xfrm>
            <a:off x="0" y="7899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a0d244dc93_0_248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2" name="Google Shape;52;g3a0d244dc93_0_248"/>
          <p:cNvSpPr txBox="1"/>
          <p:nvPr>
            <p:ph idx="1" type="body"/>
          </p:nvPr>
        </p:nvSpPr>
        <p:spPr>
          <a:xfrm>
            <a:off x="460950" y="920700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g3a0d244dc93_0_2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0d244dc93_0_254"/>
          <p:cNvSpPr/>
          <p:nvPr/>
        </p:nvSpPr>
        <p:spPr>
          <a:xfrm flipH="1" rot="10800000">
            <a:off x="0" y="654300"/>
            <a:ext cx="9144000" cy="448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a0d244dc93_0_254"/>
          <p:cNvSpPr/>
          <p:nvPr/>
        </p:nvSpPr>
        <p:spPr>
          <a:xfrm>
            <a:off x="0" y="6543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a0d244dc93_0_254"/>
          <p:cNvSpPr txBox="1"/>
          <p:nvPr>
            <p:ph type="title"/>
          </p:nvPr>
        </p:nvSpPr>
        <p:spPr>
          <a:xfrm>
            <a:off x="460950" y="0"/>
            <a:ext cx="8222100" cy="6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8" name="Google Shape;58;g3a0d244dc93_0_254"/>
          <p:cNvSpPr txBox="1"/>
          <p:nvPr>
            <p:ph idx="1" type="body"/>
          </p:nvPr>
        </p:nvSpPr>
        <p:spPr>
          <a:xfrm>
            <a:off x="495850" y="916900"/>
            <a:ext cx="3916500" cy="37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9" name="Google Shape;59;g3a0d244dc93_0_254"/>
          <p:cNvSpPr txBox="1"/>
          <p:nvPr>
            <p:ph idx="2" type="body"/>
          </p:nvPr>
        </p:nvSpPr>
        <p:spPr>
          <a:xfrm>
            <a:off x="4683250" y="916900"/>
            <a:ext cx="3999900" cy="3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0" name="Google Shape;60;g3a0d244dc93_0_2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rmal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d244dc93_0_261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a0d244dc93_0_261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a0d244dc93_0_26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5" name="Google Shape;65;g3a0d244dc93_0_26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g3a0d244dc93_0_261"/>
          <p:cNvSpPr txBox="1"/>
          <p:nvPr>
            <p:ph idx="1" type="body"/>
          </p:nvPr>
        </p:nvSpPr>
        <p:spPr>
          <a:xfrm>
            <a:off x="207450" y="734075"/>
            <a:ext cx="8633400" cy="41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0d244dc93_0_26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a0d244dc93_0_26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a0d244dc93_0_26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g3a0d244dc93_0_26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g3a0d244dc93_0_26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0d244dc93_0_273"/>
          <p:cNvSpPr txBox="1"/>
          <p:nvPr>
            <p:ph type="title"/>
          </p:nvPr>
        </p:nvSpPr>
        <p:spPr>
          <a:xfrm>
            <a:off x="490250" y="488250"/>
            <a:ext cx="6252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5" name="Google Shape;75;g3a0d244dc93_0_27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d244dc93_0_27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a0d244dc93_0_276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a0d244dc93_0_27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g3a0d244dc93_0_276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g3a0d244dc93_0_27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g3a0d244dc93_0_27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0d244dc93_0_283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a0d244dc93_0_283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a0d244dc93_0_283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87" name="Google Shape;87;g3a0d244dc93_0_28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d244dc93_0_288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g3a0d244dc93_0_288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g3a0d244dc93_0_28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0d244dc93_0_29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x text or content">
  <p:cSld name="1 x text or conte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0d244dc93_0_294"/>
          <p:cNvSpPr txBox="1"/>
          <p:nvPr>
            <p:ph type="title"/>
          </p:nvPr>
        </p:nvSpPr>
        <p:spPr>
          <a:xfrm>
            <a:off x="494108" y="492919"/>
            <a:ext cx="67665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6" name="Google Shape;96;g3a0d244dc93_0_294"/>
          <p:cNvSpPr txBox="1"/>
          <p:nvPr>
            <p:ph idx="1" type="subTitle"/>
          </p:nvPr>
        </p:nvSpPr>
        <p:spPr>
          <a:xfrm>
            <a:off x="494111" y="980100"/>
            <a:ext cx="399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875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7" name="Google Shape;97;g3a0d244dc93_0_294"/>
          <p:cNvSpPr txBox="1"/>
          <p:nvPr>
            <p:ph idx="2" type="body"/>
          </p:nvPr>
        </p:nvSpPr>
        <p:spPr>
          <a:xfrm>
            <a:off x="494110" y="1358504"/>
            <a:ext cx="81558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4pPr>
            <a:lvl5pPr indent="-32385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/>
            </a:lvl5pPr>
            <a:lvl6pPr indent="-32385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sz="1500"/>
            </a:lvl6pPr>
            <a:lvl7pPr indent="-3048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8pPr>
            <a:lvl9pPr indent="-285750" lvl="8" marL="4114800" algn="l">
              <a:lnSpc>
                <a:spcPct val="116666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900"/>
              <a:buChar char="■"/>
              <a:defRPr/>
            </a:lvl9pPr>
          </a:lstStyle>
          <a:p/>
        </p:txBody>
      </p:sp>
      <p:sp>
        <p:nvSpPr>
          <p:cNvPr id="98" name="Google Shape;98;g3a0d244dc93_0_294"/>
          <p:cNvSpPr txBox="1"/>
          <p:nvPr>
            <p:ph idx="11" type="ftr"/>
          </p:nvPr>
        </p:nvSpPr>
        <p:spPr>
          <a:xfrm>
            <a:off x="494109" y="4873500"/>
            <a:ext cx="3992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9" name="Google Shape;99;g3a0d244dc93_0_294"/>
          <p:cNvSpPr txBox="1"/>
          <p:nvPr>
            <p:ph idx="12" type="sldNum"/>
          </p:nvPr>
        </p:nvSpPr>
        <p:spPr>
          <a:xfrm>
            <a:off x="8303023" y="4873500"/>
            <a:ext cx="347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TITLE_ONLY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0d244dc93_0_529"/>
          <p:cNvSpPr txBox="1"/>
          <p:nvPr>
            <p:ph type="title"/>
          </p:nvPr>
        </p:nvSpPr>
        <p:spPr>
          <a:xfrm>
            <a:off x="324852" y="216568"/>
            <a:ext cx="78867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cxnSp>
        <p:nvCxnSpPr>
          <p:cNvPr id="102" name="Google Shape;102;g3a0d244dc93_0_529"/>
          <p:cNvCxnSpPr/>
          <p:nvPr/>
        </p:nvCxnSpPr>
        <p:spPr>
          <a:xfrm>
            <a:off x="354931" y="782053"/>
            <a:ext cx="3429000" cy="0"/>
          </a:xfrm>
          <a:prstGeom prst="straightConnector1">
            <a:avLst/>
          </a:prstGeom>
          <a:noFill/>
          <a:ln cap="flat" cmpd="sng" w="428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g3a0d244dc93_0_5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4" name="Google Shape;104;g3a0d244dc93_0_5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5" name="Google Shape;105;g3a0d244dc93_0_5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 txBox="1"/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7"/>
          <p:cNvSpPr txBox="1"/>
          <p:nvPr>
            <p:ph idx="1" type="body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BF5700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0d244dc93_0_2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" name="Google Shape;37;g3a0d244dc93_0_23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" name="Google Shape;38;g3a0d244dc93_0_2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Relationship Id="rId5" Type="http://schemas.openxmlformats.org/officeDocument/2006/relationships/hyperlink" Target="https://dsp.stackexchange.com/questions/24900/translation-invariance-in-max-pooling-and-cascading-with-convolutional-layer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gif"/><Relationship Id="rId4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gif"/><Relationship Id="rId4" Type="http://schemas.openxmlformats.org/officeDocument/2006/relationships/image" Target="../media/image28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Relationship Id="rId4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Relationship Id="rId4" Type="http://schemas.openxmlformats.org/officeDocument/2006/relationships/image" Target="../media/image44.png"/><Relationship Id="rId5" Type="http://schemas.openxmlformats.org/officeDocument/2006/relationships/image" Target="../media/image53.png"/><Relationship Id="rId6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Relationship Id="rId4" Type="http://schemas.openxmlformats.org/officeDocument/2006/relationships/image" Target="../media/image51.png"/><Relationship Id="rId5" Type="http://schemas.openxmlformats.org/officeDocument/2006/relationships/image" Target="../media/image4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Relationship Id="rId4" Type="http://schemas.openxmlformats.org/officeDocument/2006/relationships/image" Target="../media/image4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1"/>
          <p:cNvCxnSpPr/>
          <p:nvPr/>
        </p:nvCxnSpPr>
        <p:spPr>
          <a:xfrm>
            <a:off x="317201" y="2343150"/>
            <a:ext cx="5791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"/>
          <p:cNvSpPr txBox="1"/>
          <p:nvPr/>
        </p:nvSpPr>
        <p:spPr>
          <a:xfrm>
            <a:off x="317845" y="2527191"/>
            <a:ext cx="5955666" cy="2144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PROF. KRISHNA KUMAR, PHD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FFFFFF"/>
                </a:solidFill>
              </a:rPr>
              <a:t>J. Neils Thompson Centennial Teaching Fellow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Department of Civil, Architectural, and Environmental Eng.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 Texas at Austin</a:t>
            </a:r>
            <a:endParaRPr/>
          </a:p>
          <a:p>
            <a:pPr indent="0" lvl="0" marL="0" marR="0" rtl="0" algn="l">
              <a:lnSpc>
                <a:spcPct val="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234968" y="92582"/>
            <a:ext cx="7828444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AI IN GEOTECHNICAL ENGINEERING – MODULE </a:t>
            </a:r>
            <a:r>
              <a:rPr lang="en-US" sz="1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253521" y="437999"/>
            <a:ext cx="8437520" cy="2089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lang="en-US" sz="3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Convolutional Neural Networks</a:t>
            </a:r>
            <a:endParaRPr/>
          </a:p>
        </p:txBody>
      </p:sp>
      <p:pic>
        <p:nvPicPr>
          <p:cNvPr id="115" name="Google Shape;11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635" y="107950"/>
            <a:ext cx="187739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0d244dc93_0_300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121" name="Google Shape;121;g3a0d244dc93_0_30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g3a0d244dc93_0_300"/>
          <p:cNvSpPr txBox="1"/>
          <p:nvPr>
            <p:ph idx="1" type="body"/>
          </p:nvPr>
        </p:nvSpPr>
        <p:spPr>
          <a:xfrm>
            <a:off x="460950" y="920700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What is a Convolutional Neural Networks (Image-based data)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CNN 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Uses of CNN: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Image classification (Soil Classification/Crack detection)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Image segmentation (Mapping cracks/Soil layer separation)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Image generation (Generate soil profile based on measurements)</a:t>
            </a:r>
            <a:endParaRPr/>
          </a:p>
        </p:txBody>
      </p:sp>
      <p:pic>
        <p:nvPicPr>
          <p:cNvPr id="123" name="Google Shape;123;g3a0d244dc93_0_3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3938" y="2964475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a0d244dc93_0_3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48" y="3301297"/>
            <a:ext cx="2507826" cy="10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a0d244dc93_0_3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2500" y="2995663"/>
            <a:ext cx="2899751" cy="168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0d244dc93_0_318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do we need CNN?</a:t>
            </a:r>
            <a:endParaRPr/>
          </a:p>
        </p:txBody>
      </p:sp>
      <p:sp>
        <p:nvSpPr>
          <p:cNvPr id="132" name="Google Shape;132;g3a0d244dc93_0_3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3" name="Google Shape;133;g3a0d244dc93_0_318"/>
          <p:cNvPicPr preferRelativeResize="0"/>
          <p:nvPr/>
        </p:nvPicPr>
        <p:blipFill rotWithShape="1">
          <a:blip r:embed="rId3">
            <a:alphaModFix/>
          </a:blip>
          <a:srcRect b="2744" l="4395" r="20337" t="34872"/>
          <a:stretch/>
        </p:blipFill>
        <p:spPr>
          <a:xfrm>
            <a:off x="853250" y="1014225"/>
            <a:ext cx="6882151" cy="267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a0d244dc93_0_318"/>
          <p:cNvSpPr txBox="1"/>
          <p:nvPr/>
        </p:nvSpPr>
        <p:spPr>
          <a:xfrm>
            <a:off x="2487250" y="3630250"/>
            <a:ext cx="46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Multi- Layer Perceptron</a:t>
            </a:r>
            <a:endParaRPr sz="1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0d244dc93_0_327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do we need CNN? (MLP Failure)</a:t>
            </a:r>
            <a:endParaRPr/>
          </a:p>
        </p:txBody>
      </p:sp>
      <p:sp>
        <p:nvSpPr>
          <p:cNvPr id="141" name="Google Shape;141;g3a0d244dc93_0_32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2" name="Google Shape;142;g3a0d244dc93_0_327"/>
          <p:cNvPicPr preferRelativeResize="0"/>
          <p:nvPr/>
        </p:nvPicPr>
        <p:blipFill rotWithShape="1">
          <a:blip r:embed="rId3">
            <a:alphaModFix/>
          </a:blip>
          <a:srcRect b="2744" l="4395" r="20337" t="34872"/>
          <a:stretch/>
        </p:blipFill>
        <p:spPr>
          <a:xfrm>
            <a:off x="853250" y="1014225"/>
            <a:ext cx="6882151" cy="267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a0d244dc93_0_327"/>
          <p:cNvSpPr txBox="1"/>
          <p:nvPr/>
        </p:nvSpPr>
        <p:spPr>
          <a:xfrm>
            <a:off x="2487250" y="3630250"/>
            <a:ext cx="46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Multi- Layer Perceptron</a:t>
            </a:r>
            <a:endParaRPr sz="1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g3a0d244dc93_0_327"/>
          <p:cNvSpPr/>
          <p:nvPr/>
        </p:nvSpPr>
        <p:spPr>
          <a:xfrm>
            <a:off x="6592375" y="2054075"/>
            <a:ext cx="1022400" cy="321300"/>
          </a:xfrm>
          <a:prstGeom prst="roundRect">
            <a:avLst>
              <a:gd fmla="val 5556" name="adj"/>
            </a:avLst>
          </a:prstGeom>
          <a:solidFill>
            <a:srgbClr val="A5A5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Bird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g3a0d244dc93_0_327"/>
          <p:cNvSpPr/>
          <p:nvPr/>
        </p:nvSpPr>
        <p:spPr>
          <a:xfrm>
            <a:off x="6592375" y="1626925"/>
            <a:ext cx="1022400" cy="321300"/>
          </a:xfrm>
          <a:prstGeom prst="roundRect">
            <a:avLst>
              <a:gd fmla="val 5556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g3a0d244dc93_0_327"/>
          <p:cNvPicPr preferRelativeResize="0"/>
          <p:nvPr/>
        </p:nvPicPr>
        <p:blipFill rotWithShape="1">
          <a:blip r:embed="rId3">
            <a:alphaModFix/>
          </a:blip>
          <a:srcRect b="25090" l="6777" r="78256" t="53119"/>
          <a:stretch/>
        </p:blipFill>
        <p:spPr>
          <a:xfrm rot="-5399989">
            <a:off x="1283774" y="1565677"/>
            <a:ext cx="982175" cy="1440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0d244dc93_0_338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MNIST dataset</a:t>
            </a:r>
            <a:endParaRPr/>
          </a:p>
        </p:txBody>
      </p:sp>
      <p:sp>
        <p:nvSpPr>
          <p:cNvPr id="153" name="Google Shape;153;g3a0d244dc93_0_3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g3a0d244dc93_0_3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563" y="1023938"/>
            <a:ext cx="6238875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0d244dc93_0_346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Encoding Images using MLP</a:t>
            </a:r>
            <a:endParaRPr/>
          </a:p>
        </p:txBody>
      </p:sp>
      <p:sp>
        <p:nvSpPr>
          <p:cNvPr id="161" name="Google Shape;161;g3a0d244dc93_0_3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" name="Google Shape;162;g3a0d244dc93_0_3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22" y="1831061"/>
            <a:ext cx="5194453" cy="2047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g3a0d244dc93_0_346"/>
          <p:cNvCxnSpPr/>
          <p:nvPr/>
        </p:nvCxnSpPr>
        <p:spPr>
          <a:xfrm rot="5400000">
            <a:off x="4562681" y="1531134"/>
            <a:ext cx="760500" cy="644100"/>
          </a:xfrm>
          <a:prstGeom prst="curvedConnector3">
            <a:avLst>
              <a:gd fmla="val 49993" name="adj1"/>
            </a:avLst>
          </a:prstGeom>
          <a:noFill/>
          <a:ln cap="flat" cmpd="sng" w="23750">
            <a:solidFill>
              <a:schemeClr val="l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4" name="Google Shape;164;g3a0d244dc93_0_346"/>
          <p:cNvSpPr txBox="1"/>
          <p:nvPr/>
        </p:nvSpPr>
        <p:spPr>
          <a:xfrm>
            <a:off x="5160331" y="1203753"/>
            <a:ext cx="24297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75" lIns="68375" spcFirstLastPara="1" rIns="68375" wrap="square" tIns="341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pixel gets weight 0.6</a:t>
            </a:r>
            <a:endParaRPr sz="1046"/>
          </a:p>
        </p:txBody>
      </p:sp>
      <p:cxnSp>
        <p:nvCxnSpPr>
          <p:cNvPr id="165" name="Google Shape;165;g3a0d244dc93_0_346"/>
          <p:cNvCxnSpPr/>
          <p:nvPr/>
        </p:nvCxnSpPr>
        <p:spPr>
          <a:xfrm flipH="1">
            <a:off x="5499775" y="2986300"/>
            <a:ext cx="1140900" cy="102600"/>
          </a:xfrm>
          <a:prstGeom prst="curvedConnector3">
            <a:avLst>
              <a:gd fmla="val 50000" name="adj1"/>
            </a:avLst>
          </a:prstGeom>
          <a:noFill/>
          <a:ln cap="flat" cmpd="sng" w="23750">
            <a:solidFill>
              <a:schemeClr val="l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6" name="Google Shape;166;g3a0d244dc93_0_346"/>
          <p:cNvSpPr txBox="1"/>
          <p:nvPr/>
        </p:nvSpPr>
        <p:spPr>
          <a:xfrm>
            <a:off x="6093839" y="2622212"/>
            <a:ext cx="24297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75" lIns="68375" spcFirstLastPara="1" rIns="68375" wrap="square" tIns="341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pixel gets weight 0.1</a:t>
            </a:r>
            <a:endParaRPr sz="1046"/>
          </a:p>
        </p:txBody>
      </p:sp>
      <p:cxnSp>
        <p:nvCxnSpPr>
          <p:cNvPr id="167" name="Google Shape;167;g3a0d244dc93_0_346"/>
          <p:cNvCxnSpPr/>
          <p:nvPr/>
        </p:nvCxnSpPr>
        <p:spPr>
          <a:xfrm rot="-5400000">
            <a:off x="4382679" y="3976760"/>
            <a:ext cx="974400" cy="9300"/>
          </a:xfrm>
          <a:prstGeom prst="curvedConnector3">
            <a:avLst>
              <a:gd fmla="val 50005" name="adj1"/>
            </a:avLst>
          </a:prstGeom>
          <a:noFill/>
          <a:ln cap="flat" cmpd="sng" w="23750">
            <a:solidFill>
              <a:schemeClr val="l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8" name="Google Shape;168;g3a0d244dc93_0_346"/>
          <p:cNvSpPr txBox="1"/>
          <p:nvPr/>
        </p:nvSpPr>
        <p:spPr>
          <a:xfrm>
            <a:off x="4553417" y="4350315"/>
            <a:ext cx="24297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75" lIns="68375" spcFirstLastPara="1" rIns="68375" wrap="square" tIns="341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pixel gets weight 0.9</a:t>
            </a:r>
            <a:endParaRPr sz="1046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0d244dc93_0_362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 this still a 1? with the shift?</a:t>
            </a:r>
            <a:endParaRPr/>
          </a:p>
        </p:txBody>
      </p:sp>
      <p:sp>
        <p:nvSpPr>
          <p:cNvPr id="175" name="Google Shape;175;g3a0d244dc93_0_36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6" name="Google Shape;176;g3a0d244dc93_0_3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22" y="1831061"/>
            <a:ext cx="5194453" cy="2047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g3a0d244dc93_0_362"/>
          <p:cNvCxnSpPr/>
          <p:nvPr/>
        </p:nvCxnSpPr>
        <p:spPr>
          <a:xfrm rot="5400000">
            <a:off x="4562681" y="1531134"/>
            <a:ext cx="760500" cy="644100"/>
          </a:xfrm>
          <a:prstGeom prst="curvedConnector3">
            <a:avLst>
              <a:gd fmla="val 49993" name="adj1"/>
            </a:avLst>
          </a:prstGeom>
          <a:noFill/>
          <a:ln cap="flat" cmpd="sng" w="23750">
            <a:solidFill>
              <a:schemeClr val="l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8" name="Google Shape;178;g3a0d244dc93_0_362"/>
          <p:cNvSpPr txBox="1"/>
          <p:nvPr/>
        </p:nvSpPr>
        <p:spPr>
          <a:xfrm>
            <a:off x="5160331" y="1203753"/>
            <a:ext cx="24297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75" lIns="68375" spcFirstLastPara="1" rIns="68375" wrap="square" tIns="341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pixel gets weight 0.6</a:t>
            </a:r>
            <a:endParaRPr sz="1046"/>
          </a:p>
        </p:txBody>
      </p:sp>
      <p:cxnSp>
        <p:nvCxnSpPr>
          <p:cNvPr id="179" name="Google Shape;179;g3a0d244dc93_0_362"/>
          <p:cNvCxnSpPr/>
          <p:nvPr/>
        </p:nvCxnSpPr>
        <p:spPr>
          <a:xfrm flipH="1">
            <a:off x="5499775" y="2986300"/>
            <a:ext cx="1140900" cy="102600"/>
          </a:xfrm>
          <a:prstGeom prst="curvedConnector3">
            <a:avLst>
              <a:gd fmla="val 50000" name="adj1"/>
            </a:avLst>
          </a:prstGeom>
          <a:noFill/>
          <a:ln cap="flat" cmpd="sng" w="23750">
            <a:solidFill>
              <a:schemeClr val="l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0" name="Google Shape;180;g3a0d244dc93_0_362"/>
          <p:cNvSpPr txBox="1"/>
          <p:nvPr/>
        </p:nvSpPr>
        <p:spPr>
          <a:xfrm>
            <a:off x="6093839" y="2622212"/>
            <a:ext cx="24297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75" lIns="68375" spcFirstLastPara="1" rIns="68375" wrap="square" tIns="341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pixel gets weight 0.1</a:t>
            </a:r>
            <a:endParaRPr sz="1046"/>
          </a:p>
        </p:txBody>
      </p:sp>
      <p:cxnSp>
        <p:nvCxnSpPr>
          <p:cNvPr id="181" name="Google Shape;181;g3a0d244dc93_0_362"/>
          <p:cNvCxnSpPr/>
          <p:nvPr/>
        </p:nvCxnSpPr>
        <p:spPr>
          <a:xfrm rot="-5400000">
            <a:off x="4382679" y="3976760"/>
            <a:ext cx="974400" cy="9300"/>
          </a:xfrm>
          <a:prstGeom prst="curvedConnector3">
            <a:avLst>
              <a:gd fmla="val 50005" name="adj1"/>
            </a:avLst>
          </a:prstGeom>
          <a:noFill/>
          <a:ln cap="flat" cmpd="sng" w="23750">
            <a:solidFill>
              <a:schemeClr val="l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2" name="Google Shape;182;g3a0d244dc93_0_362"/>
          <p:cNvSpPr txBox="1"/>
          <p:nvPr/>
        </p:nvSpPr>
        <p:spPr>
          <a:xfrm>
            <a:off x="4553417" y="4350315"/>
            <a:ext cx="24297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75" lIns="68375" spcFirstLastPara="1" rIns="68375" wrap="square" tIns="341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pixel gets weight 0.9</a:t>
            </a:r>
            <a:endParaRPr sz="1046"/>
          </a:p>
        </p:txBody>
      </p:sp>
      <p:pic>
        <p:nvPicPr>
          <p:cNvPr id="183" name="Google Shape;183;g3a0d244dc93_0_362"/>
          <p:cNvPicPr preferRelativeResize="0"/>
          <p:nvPr/>
        </p:nvPicPr>
        <p:blipFill rotWithShape="1">
          <a:blip r:embed="rId3">
            <a:alphaModFix/>
          </a:blip>
          <a:srcRect b="11398" l="13277" r="70037" t="12815"/>
          <a:stretch/>
        </p:blipFill>
        <p:spPr>
          <a:xfrm>
            <a:off x="1607325" y="1963588"/>
            <a:ext cx="995576" cy="178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0d244dc93_0_310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Translational Invariance</a:t>
            </a:r>
            <a:endParaRPr/>
          </a:p>
        </p:txBody>
      </p:sp>
      <p:sp>
        <p:nvSpPr>
          <p:cNvPr id="190" name="Google Shape;190;g3a0d244dc93_0_3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1" name="Google Shape;191;g3a0d244dc93_0_3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188" y="879875"/>
            <a:ext cx="3001636" cy="407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0d244dc93_0_382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Translational Invariance</a:t>
            </a:r>
            <a:endParaRPr/>
          </a:p>
        </p:txBody>
      </p:sp>
      <p:sp>
        <p:nvSpPr>
          <p:cNvPr id="197" name="Google Shape;197;g3a0d244dc93_0_38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g3a0d244dc93_0_382"/>
          <p:cNvSpPr txBox="1"/>
          <p:nvPr>
            <p:ph idx="4294967295" type="body"/>
          </p:nvPr>
        </p:nvSpPr>
        <p:spPr>
          <a:xfrm>
            <a:off x="324852" y="1036468"/>
            <a:ext cx="7886700" cy="3263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39" r="0" t="-2029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/>
              <a:t> </a:t>
            </a:r>
            <a:endParaRPr/>
          </a:p>
        </p:txBody>
      </p:sp>
      <p:pic>
        <p:nvPicPr>
          <p:cNvPr id="199" name="Google Shape;199;g3a0d244dc93_0_3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7236" y="2283816"/>
            <a:ext cx="3187556" cy="95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a0d244dc93_0_3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7184" y="3261293"/>
            <a:ext cx="6359238" cy="1275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0d244dc93_0_390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FCNN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are </a:t>
            </a:r>
            <a:r>
              <a:rPr b="1" i="1" lang="en-US"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Translationally Invariant</a:t>
            </a:r>
            <a:endParaRPr/>
          </a:p>
        </p:txBody>
      </p:sp>
      <p:sp>
        <p:nvSpPr>
          <p:cNvPr id="206" name="Google Shape;206;g3a0d244dc93_0_39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7" name="Google Shape;207;g3a0d244dc93_0_390"/>
          <p:cNvPicPr preferRelativeResize="0"/>
          <p:nvPr/>
        </p:nvPicPr>
        <p:blipFill rotWithShape="1">
          <a:blip r:embed="rId3">
            <a:alphaModFix/>
          </a:blip>
          <a:srcRect b="0" l="43684" r="0" t="0"/>
          <a:stretch/>
        </p:blipFill>
        <p:spPr>
          <a:xfrm>
            <a:off x="1036862" y="2202880"/>
            <a:ext cx="2234426" cy="1563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g3a0d244dc93_0_390"/>
          <p:cNvGrpSpPr/>
          <p:nvPr/>
        </p:nvGrpSpPr>
        <p:grpSpPr>
          <a:xfrm>
            <a:off x="5572791" y="2209305"/>
            <a:ext cx="2234425" cy="1583982"/>
            <a:chOff x="6661222" y="2999806"/>
            <a:chExt cx="2979233" cy="2111976"/>
          </a:xfrm>
        </p:grpSpPr>
        <p:pic>
          <p:nvPicPr>
            <p:cNvPr id="209" name="Google Shape;209;g3a0d244dc93_0_390"/>
            <p:cNvPicPr preferRelativeResize="0"/>
            <p:nvPr/>
          </p:nvPicPr>
          <p:blipFill rotWithShape="1">
            <a:blip r:embed="rId3">
              <a:alphaModFix/>
            </a:blip>
            <a:srcRect b="0" l="43684" r="0" t="0"/>
            <a:stretch/>
          </p:blipFill>
          <p:spPr>
            <a:xfrm>
              <a:off x="6661222" y="2999806"/>
              <a:ext cx="2979233" cy="20848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g3a0d244dc93_0_3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67557" y="3058161"/>
              <a:ext cx="889000" cy="1999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g3a0d244dc93_0_39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42118" y="3063901"/>
              <a:ext cx="676755" cy="20478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g3a0d244dc93_0_390"/>
          <p:cNvSpPr txBox="1"/>
          <p:nvPr/>
        </p:nvSpPr>
        <p:spPr>
          <a:xfrm>
            <a:off x="698802" y="4464919"/>
            <a:ext cx="3147900" cy="230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9229" l="-299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213" name="Google Shape;213;g3a0d244dc93_0_390"/>
          <p:cNvSpPr txBox="1"/>
          <p:nvPr/>
        </p:nvSpPr>
        <p:spPr>
          <a:xfrm>
            <a:off x="5341994" y="4463180"/>
            <a:ext cx="3103200" cy="2307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9239" l="-609" r="0" t="-3838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214" name="Google Shape;214;g3a0d244dc93_0_390"/>
          <p:cNvSpPr/>
          <p:nvPr/>
        </p:nvSpPr>
        <p:spPr>
          <a:xfrm>
            <a:off x="3776058" y="2796701"/>
            <a:ext cx="1500600" cy="1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a0d244dc93_0_390"/>
          <p:cNvSpPr txBox="1"/>
          <p:nvPr/>
        </p:nvSpPr>
        <p:spPr>
          <a:xfrm>
            <a:off x="1810755" y="952502"/>
            <a:ext cx="25026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How to make the network translationally invariant?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16" name="Google Shape;216;g3a0d244dc93_0_390"/>
          <p:cNvSpPr txBox="1"/>
          <p:nvPr/>
        </p:nvSpPr>
        <p:spPr>
          <a:xfrm>
            <a:off x="4370543" y="948638"/>
            <a:ext cx="2190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Focus on local differences/patterns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0d244dc93_0_376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Convolutional Neural Network</a:t>
            </a:r>
            <a:endParaRPr/>
          </a:p>
        </p:txBody>
      </p:sp>
      <p:sp>
        <p:nvSpPr>
          <p:cNvPr id="222" name="Google Shape;222;g3a0d244dc93_0_37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3" name="Google Shape;223;g3a0d244dc93_0_3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50" y="904250"/>
            <a:ext cx="7609343" cy="407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0d244dc93_0_537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Convolution?</a:t>
            </a:r>
            <a:endParaRPr/>
          </a:p>
        </p:txBody>
      </p:sp>
      <p:sp>
        <p:nvSpPr>
          <p:cNvPr id="230" name="Google Shape;230;g3a0d244dc93_0_537"/>
          <p:cNvSpPr txBox="1"/>
          <p:nvPr/>
        </p:nvSpPr>
        <p:spPr>
          <a:xfrm>
            <a:off x="55936" y="845727"/>
            <a:ext cx="8707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Convolution is an operation that takes two inputs: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a0d244dc93_0_537"/>
          <p:cNvSpPr txBox="1"/>
          <p:nvPr/>
        </p:nvSpPr>
        <p:spPr>
          <a:xfrm>
            <a:off x="55936" y="1377736"/>
            <a:ext cx="4515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(1) An greyscale image (2D – B/W)</a:t>
            </a:r>
            <a:endParaRPr/>
          </a:p>
        </p:txBody>
      </p:sp>
      <p:sp>
        <p:nvSpPr>
          <p:cNvPr id="232" name="Google Shape;232;g3a0d244dc93_0_537"/>
          <p:cNvSpPr txBox="1"/>
          <p:nvPr/>
        </p:nvSpPr>
        <p:spPr>
          <a:xfrm>
            <a:off x="5027659" y="1377718"/>
            <a:ext cx="4959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(2) A filter (also called a kernel)</a:t>
            </a:r>
            <a:endParaRPr/>
          </a:p>
        </p:txBody>
      </p:sp>
      <p:pic>
        <p:nvPicPr>
          <p:cNvPr id="233" name="Google Shape;233;g3a0d244dc93_0_537"/>
          <p:cNvPicPr preferRelativeResize="0"/>
          <p:nvPr/>
        </p:nvPicPr>
        <p:blipFill rotWithShape="1">
          <a:blip r:embed="rId3">
            <a:alphaModFix/>
          </a:blip>
          <a:srcRect b="0" l="0" r="64031" t="0"/>
          <a:stretch/>
        </p:blipFill>
        <p:spPr>
          <a:xfrm>
            <a:off x="901017" y="2335404"/>
            <a:ext cx="2460065" cy="2233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4" name="Google Shape;234;g3a0d244dc93_0_537"/>
          <p:cNvGraphicFramePr/>
          <p:nvPr/>
        </p:nvGraphicFramePr>
        <p:xfrm>
          <a:off x="5614700" y="221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734300"/>
                <a:gridCol w="734300"/>
                <a:gridCol w="838050"/>
              </a:tblGrid>
              <a:tr h="78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78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78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g3a0d244dc93_0_537"/>
          <p:cNvSpPr txBox="1"/>
          <p:nvPr/>
        </p:nvSpPr>
        <p:spPr>
          <a:xfrm>
            <a:off x="3970759" y="4681799"/>
            <a:ext cx="532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2D array of numbers; could be any values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0d244dc93_0_671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sp>
        <p:nvSpPr>
          <p:cNvPr id="242" name="Google Shape;242;g3a0d244dc93_0_67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43" name="Google Shape;243;g3a0d244dc93_0_671"/>
          <p:cNvGraphicFramePr/>
          <p:nvPr/>
        </p:nvGraphicFramePr>
        <p:xfrm>
          <a:off x="560664" y="14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703725"/>
                <a:gridCol w="703725"/>
                <a:gridCol w="703725"/>
                <a:gridCol w="703725"/>
              </a:tblGrid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g3a0d244dc93_0_671"/>
          <p:cNvSpPr txBox="1"/>
          <p:nvPr/>
        </p:nvSpPr>
        <p:spPr>
          <a:xfrm>
            <a:off x="1649902" y="966225"/>
            <a:ext cx="137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/>
          </a:p>
        </p:txBody>
      </p:sp>
      <p:grpSp>
        <p:nvGrpSpPr>
          <p:cNvPr id="245" name="Google Shape;245;g3a0d244dc93_0_671"/>
          <p:cNvGrpSpPr/>
          <p:nvPr/>
        </p:nvGrpSpPr>
        <p:grpSpPr>
          <a:xfrm>
            <a:off x="4043933" y="2571748"/>
            <a:ext cx="3589529" cy="2553139"/>
            <a:chOff x="5674295" y="4092498"/>
            <a:chExt cx="3589529" cy="2553139"/>
          </a:xfrm>
        </p:grpSpPr>
        <p:sp>
          <p:nvSpPr>
            <p:cNvPr id="246" name="Google Shape;246;g3a0d244dc93_0_671"/>
            <p:cNvSpPr txBox="1"/>
            <p:nvPr/>
          </p:nvSpPr>
          <p:spPr>
            <a:xfrm>
              <a:off x="5674295" y="4092498"/>
              <a:ext cx="715200" cy="6177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7688" l="-1719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g3a0d244dc93_0_671"/>
            <p:cNvSpPr txBox="1"/>
            <p:nvPr/>
          </p:nvSpPr>
          <p:spPr>
            <a:xfrm>
              <a:off x="6031924" y="6060637"/>
              <a:ext cx="32319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(We use this symbol for convolution)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(The verb form is “convolve”)</a:t>
              </a:r>
              <a:endParaRPr/>
            </a:p>
          </p:txBody>
        </p:sp>
        <p:cxnSp>
          <p:nvCxnSpPr>
            <p:cNvPr id="248" name="Google Shape;248;g3a0d244dc93_0_671"/>
            <p:cNvCxnSpPr>
              <a:stCxn id="247" idx="0"/>
              <a:endCxn id="246" idx="2"/>
            </p:cNvCxnSpPr>
            <p:nvPr/>
          </p:nvCxnSpPr>
          <p:spPr>
            <a:xfrm flipH="1" rot="5400000">
              <a:off x="6164674" y="4577437"/>
              <a:ext cx="1350300" cy="1616100"/>
            </a:xfrm>
            <a:prstGeom prst="curvedConnector3">
              <a:avLst>
                <a:gd fmla="val 50005" name="adj1"/>
              </a:avLst>
            </a:prstGeom>
            <a:noFill/>
            <a:ln cap="flat" cmpd="sng" w="38100">
              <a:solidFill>
                <a:srgbClr val="000000"/>
              </a:solidFill>
              <a:prstDash val="dash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49" name="Google Shape;249;g3a0d244dc93_0_671"/>
          <p:cNvSpPr txBox="1"/>
          <p:nvPr/>
        </p:nvSpPr>
        <p:spPr>
          <a:xfrm>
            <a:off x="6320059" y="956933"/>
            <a:ext cx="211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filter/kernel</a:t>
            </a:r>
            <a:endParaRPr/>
          </a:p>
        </p:txBody>
      </p:sp>
      <p:graphicFrame>
        <p:nvGraphicFramePr>
          <p:cNvPr id="250" name="Google Shape;250;g3a0d244dc93_0_671"/>
          <p:cNvGraphicFramePr/>
          <p:nvPr/>
        </p:nvGraphicFramePr>
        <p:xfrm>
          <a:off x="5917648" y="15908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674725"/>
                <a:gridCol w="674725"/>
                <a:gridCol w="770050"/>
              </a:tblGrid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0d244dc93_0_686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sp>
        <p:nvSpPr>
          <p:cNvPr id="257" name="Google Shape;257;g3a0d244dc93_0_68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8" name="Google Shape;258;g3a0d244dc93_0_6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925" y="977200"/>
            <a:ext cx="501015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0d244dc93_0_694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CNN: Different Kernels</a:t>
            </a:r>
            <a:endParaRPr/>
          </a:p>
        </p:txBody>
      </p:sp>
      <p:sp>
        <p:nvSpPr>
          <p:cNvPr id="265" name="Google Shape;265;g3a0d244dc93_0_69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6" name="Google Shape;266;g3a0d244dc93_0_694"/>
          <p:cNvPicPr preferRelativeResize="0"/>
          <p:nvPr/>
        </p:nvPicPr>
        <p:blipFill rotWithShape="1">
          <a:blip r:embed="rId3">
            <a:alphaModFix/>
          </a:blip>
          <a:srcRect b="0" l="0" r="64031" t="0"/>
          <a:stretch/>
        </p:blipFill>
        <p:spPr>
          <a:xfrm>
            <a:off x="3316245" y="3719150"/>
            <a:ext cx="1390214" cy="126203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a0d244dc93_0_694"/>
          <p:cNvSpPr txBox="1"/>
          <p:nvPr/>
        </p:nvSpPr>
        <p:spPr>
          <a:xfrm>
            <a:off x="3008657" y="1526243"/>
            <a:ext cx="44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Sharpen Kernel</a:t>
            </a:r>
            <a:endParaRPr/>
          </a:p>
        </p:txBody>
      </p:sp>
      <p:graphicFrame>
        <p:nvGraphicFramePr>
          <p:cNvPr id="268" name="Google Shape;268;g3a0d244dc93_0_694"/>
          <p:cNvGraphicFramePr/>
          <p:nvPr/>
        </p:nvGraphicFramePr>
        <p:xfrm>
          <a:off x="3838325" y="20249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{665FD6A1-DC4D-412C-8A23-0941D8763586}</a:tableStyleId>
              </a:tblPr>
              <a:tblGrid>
                <a:gridCol w="668875"/>
                <a:gridCol w="668875"/>
                <a:gridCol w="668875"/>
              </a:tblGrid>
              <a:tr h="44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-1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</a:tr>
              <a:tr h="44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BE4D4"/>
                    </a:solidFill>
                  </a:tcPr>
                </a:tc>
              </a:tr>
              <a:tr h="44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69" name="Google Shape;269;g3a0d244dc93_0_694"/>
          <p:cNvPicPr preferRelativeResize="0"/>
          <p:nvPr/>
        </p:nvPicPr>
        <p:blipFill rotWithShape="1">
          <a:blip r:embed="rId3">
            <a:alphaModFix/>
          </a:blip>
          <a:srcRect b="0" l="51278" r="12497" t="0"/>
          <a:stretch/>
        </p:blipFill>
        <p:spPr>
          <a:xfrm>
            <a:off x="4835654" y="3727115"/>
            <a:ext cx="1400073" cy="126203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a0d244dc93_0_694"/>
          <p:cNvSpPr txBox="1"/>
          <p:nvPr/>
        </p:nvSpPr>
        <p:spPr>
          <a:xfrm>
            <a:off x="7821725" y="1526241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Shift</a:t>
            </a:r>
            <a:endParaRPr/>
          </a:p>
        </p:txBody>
      </p:sp>
      <p:graphicFrame>
        <p:nvGraphicFramePr>
          <p:cNvPr id="271" name="Google Shape;271;g3a0d244dc93_0_694"/>
          <p:cNvGraphicFramePr/>
          <p:nvPr/>
        </p:nvGraphicFramePr>
        <p:xfrm>
          <a:off x="7137375" y="20712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{665FD6A1-DC4D-412C-8A23-0941D8763586}</a:tableStyleId>
              </a:tblPr>
              <a:tblGrid>
                <a:gridCol w="668875"/>
                <a:gridCol w="668875"/>
                <a:gridCol w="668875"/>
              </a:tblGrid>
              <a:tr h="44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</a:tr>
              <a:tr h="44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</a:tr>
              <a:tr h="44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g3a0d244dc93_0_694"/>
          <p:cNvSpPr txBox="1"/>
          <p:nvPr/>
        </p:nvSpPr>
        <p:spPr>
          <a:xfrm>
            <a:off x="149700" y="1526252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Blur</a:t>
            </a:r>
            <a:endParaRPr/>
          </a:p>
        </p:txBody>
      </p:sp>
      <p:graphicFrame>
        <p:nvGraphicFramePr>
          <p:cNvPr id="273" name="Google Shape;273;g3a0d244dc93_0_694"/>
          <p:cNvGraphicFramePr/>
          <p:nvPr/>
        </p:nvGraphicFramePr>
        <p:xfrm>
          <a:off x="124300" y="20249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{665FD6A1-DC4D-412C-8A23-0941D8763586}</a:tableStyleId>
              </a:tblPr>
              <a:tblGrid>
                <a:gridCol w="668875"/>
                <a:gridCol w="668875"/>
                <a:gridCol w="668875"/>
              </a:tblGrid>
              <a:tr h="44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1/9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1/9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1/9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</a:tr>
              <a:tr h="44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1/9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1/9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1/9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</a:tr>
              <a:tr h="44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1/9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1/9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000000"/>
                          </a:solidFill>
                        </a:rPr>
                        <a:t>1/9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E2F3"/>
                    </a:solidFill>
                  </a:tcPr>
                </a:tc>
              </a:tr>
            </a:tbl>
          </a:graphicData>
        </a:graphic>
      </p:graphicFrame>
      <p:pic>
        <p:nvPicPr>
          <p:cNvPr id="274" name="Google Shape;274;g3a0d244dc93_0_6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65" y="3723134"/>
            <a:ext cx="1270000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a0d244dc93_0_6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6675" y="3723134"/>
            <a:ext cx="1270000" cy="127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g3a0d244dc93_0_694"/>
          <p:cNvGrpSpPr/>
          <p:nvPr/>
        </p:nvGrpSpPr>
        <p:grpSpPr>
          <a:xfrm>
            <a:off x="6540749" y="3727092"/>
            <a:ext cx="2603242" cy="1262083"/>
            <a:chOff x="7958763" y="3987801"/>
            <a:chExt cx="3384790" cy="1640987"/>
          </a:xfrm>
        </p:grpSpPr>
        <p:pic>
          <p:nvPicPr>
            <p:cNvPr id="277" name="Google Shape;277;g3a0d244dc93_0_694"/>
            <p:cNvPicPr preferRelativeResize="0"/>
            <p:nvPr/>
          </p:nvPicPr>
          <p:blipFill rotWithShape="1">
            <a:blip r:embed="rId6">
              <a:alphaModFix/>
            </a:blip>
            <a:srcRect b="0" l="-6682" r="52528" t="0"/>
            <a:stretch/>
          </p:blipFill>
          <p:spPr>
            <a:xfrm>
              <a:off x="9746876" y="3992930"/>
              <a:ext cx="1596677" cy="1635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g3a0d244dc93_0_694"/>
            <p:cNvPicPr preferRelativeResize="0"/>
            <p:nvPr/>
          </p:nvPicPr>
          <p:blipFill rotWithShape="1">
            <a:blip r:embed="rId6">
              <a:alphaModFix/>
            </a:blip>
            <a:srcRect b="0" l="0" r="45846" t="0"/>
            <a:stretch/>
          </p:blipFill>
          <p:spPr>
            <a:xfrm>
              <a:off x="7974106" y="3987801"/>
              <a:ext cx="1596677" cy="16358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g3a0d244dc93_0_694"/>
            <p:cNvSpPr/>
            <p:nvPr/>
          </p:nvSpPr>
          <p:spPr>
            <a:xfrm>
              <a:off x="9737196" y="4010311"/>
              <a:ext cx="1596600" cy="1602600"/>
            </a:xfrm>
            <a:prstGeom prst="rect">
              <a:avLst/>
            </a:prstGeom>
            <a:noFill/>
            <a:ln cap="flat" cmpd="sng" w="293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5150" lIns="70325" spcFirstLastPara="1" rIns="70325" wrap="square" tIns="35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g3a0d244dc93_0_694"/>
            <p:cNvSpPr/>
            <p:nvPr/>
          </p:nvSpPr>
          <p:spPr>
            <a:xfrm>
              <a:off x="7958763" y="4010311"/>
              <a:ext cx="1596600" cy="1602600"/>
            </a:xfrm>
            <a:prstGeom prst="rect">
              <a:avLst/>
            </a:prstGeom>
            <a:noFill/>
            <a:ln cap="flat" cmpd="sng" w="293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5150" lIns="70325" spcFirstLastPara="1" rIns="70325" wrap="square" tIns="35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0d244dc93_0_762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 Kernel is learnable</a:t>
            </a:r>
            <a:endParaRPr/>
          </a:p>
        </p:txBody>
      </p:sp>
      <p:sp>
        <p:nvSpPr>
          <p:cNvPr id="287" name="Google Shape;287;g3a0d244dc93_0_76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g3a0d244dc93_0_762"/>
          <p:cNvSpPr txBox="1"/>
          <p:nvPr/>
        </p:nvSpPr>
        <p:spPr>
          <a:xfrm>
            <a:off x="1215551" y="1161600"/>
            <a:ext cx="101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/>
          </a:p>
        </p:txBody>
      </p:sp>
      <p:graphicFrame>
        <p:nvGraphicFramePr>
          <p:cNvPr id="289" name="Google Shape;289;g3a0d244dc93_0_762"/>
          <p:cNvGraphicFramePr/>
          <p:nvPr/>
        </p:nvGraphicFramePr>
        <p:xfrm>
          <a:off x="7209913" y="24837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843475"/>
                <a:gridCol w="843475"/>
              </a:tblGrid>
              <a:tr h="63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-4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-3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8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-8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g3a0d244dc93_0_762"/>
          <p:cNvSpPr txBox="1"/>
          <p:nvPr/>
        </p:nvSpPr>
        <p:spPr>
          <a:xfrm>
            <a:off x="7598774" y="1161600"/>
            <a:ext cx="11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  <p:sp>
        <p:nvSpPr>
          <p:cNvPr id="291" name="Google Shape;291;g3a0d244dc93_0_762"/>
          <p:cNvSpPr/>
          <p:nvPr/>
        </p:nvSpPr>
        <p:spPr>
          <a:xfrm>
            <a:off x="7334547" y="3762547"/>
            <a:ext cx="231900" cy="23190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a0d244dc93_0_762"/>
          <p:cNvSpPr txBox="1"/>
          <p:nvPr/>
        </p:nvSpPr>
        <p:spPr>
          <a:xfrm>
            <a:off x="3410021" y="2856290"/>
            <a:ext cx="715200" cy="617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7688" l="-171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g3a0d244dc93_0_762"/>
          <p:cNvGraphicFramePr/>
          <p:nvPr/>
        </p:nvGraphicFramePr>
        <p:xfrm>
          <a:off x="511814" y="165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703725"/>
                <a:gridCol w="703725"/>
                <a:gridCol w="703725"/>
                <a:gridCol w="703725"/>
              </a:tblGrid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4" name="Google Shape;294;g3a0d244dc93_0_762"/>
          <p:cNvGraphicFramePr/>
          <p:nvPr/>
        </p:nvGraphicFramePr>
        <p:xfrm>
          <a:off x="4208571" y="20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674725"/>
                <a:gridCol w="674725"/>
                <a:gridCol w="770050"/>
              </a:tblGrid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g3a0d244dc93_0_762"/>
          <p:cNvSpPr txBox="1"/>
          <p:nvPr/>
        </p:nvSpPr>
        <p:spPr>
          <a:xfrm>
            <a:off x="6411363" y="2811162"/>
            <a:ext cx="683100" cy="708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6" name="Google Shape;296;g3a0d244dc93_0_762"/>
          <p:cNvSpPr txBox="1"/>
          <p:nvPr/>
        </p:nvSpPr>
        <p:spPr>
          <a:xfrm>
            <a:off x="4549871" y="1152300"/>
            <a:ext cx="145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filter/kernel</a:t>
            </a:r>
            <a:endParaRPr/>
          </a:p>
        </p:txBody>
      </p:sp>
      <p:graphicFrame>
        <p:nvGraphicFramePr>
          <p:cNvPr id="297" name="Google Shape;297;g3a0d244dc93_0_762"/>
          <p:cNvGraphicFramePr/>
          <p:nvPr/>
        </p:nvGraphicFramePr>
        <p:xfrm>
          <a:off x="7202186" y="2476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843475"/>
                <a:gridCol w="843475"/>
              </a:tblGrid>
              <a:tr h="63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?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?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8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?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?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8" name="Google Shape;298;g3a0d244dc93_0_762"/>
          <p:cNvGraphicFramePr/>
          <p:nvPr/>
        </p:nvGraphicFramePr>
        <p:xfrm>
          <a:off x="4208546" y="209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674725"/>
                <a:gridCol w="674725"/>
                <a:gridCol w="770050"/>
              </a:tblGrid>
              <a:tr h="73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99" name="Google Shape;299;g3a0d244dc93_0_762"/>
          <p:cNvSpPr txBox="1"/>
          <p:nvPr/>
        </p:nvSpPr>
        <p:spPr>
          <a:xfrm>
            <a:off x="4671846" y="4646735"/>
            <a:ext cx="3851700" cy="491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2498" l="-659" r="-1639" t="-74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0d244dc93_0_159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CNN: Pooling Layer</a:t>
            </a:r>
            <a:endParaRPr/>
          </a:p>
        </p:txBody>
      </p:sp>
      <p:sp>
        <p:nvSpPr>
          <p:cNvPr id="305" name="Google Shape;305;g3a0d244dc93_0_15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6" name="Google Shape;306;g3a0d244dc93_0_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8550" y="1340625"/>
            <a:ext cx="3676650" cy="2708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0d244dc93_0_781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Pooling and Invariance</a:t>
            </a:r>
            <a:endParaRPr/>
          </a:p>
        </p:txBody>
      </p:sp>
      <p:sp>
        <p:nvSpPr>
          <p:cNvPr id="313" name="Google Shape;313;g3a0d244dc93_0_78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4" name="Google Shape;314;g3a0d244dc93_0_7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425" y="932325"/>
            <a:ext cx="8176153" cy="40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0d244dc93_0_915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CNN translational invariant?</a:t>
            </a:r>
            <a:endParaRPr/>
          </a:p>
        </p:txBody>
      </p:sp>
      <p:sp>
        <p:nvSpPr>
          <p:cNvPr id="321" name="Google Shape;321;g3a0d244dc93_0_9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2" name="Google Shape;322;g3a0d244dc93_0_915"/>
          <p:cNvPicPr preferRelativeResize="0"/>
          <p:nvPr/>
        </p:nvPicPr>
        <p:blipFill rotWithShape="1">
          <a:blip r:embed="rId3">
            <a:alphaModFix/>
          </a:blip>
          <a:srcRect b="8357" l="0" r="0" t="0"/>
          <a:stretch/>
        </p:blipFill>
        <p:spPr>
          <a:xfrm>
            <a:off x="318024" y="983174"/>
            <a:ext cx="3053484" cy="280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a0d244dc93_0_915"/>
          <p:cNvPicPr preferRelativeResize="0"/>
          <p:nvPr/>
        </p:nvPicPr>
        <p:blipFill rotWithShape="1">
          <a:blip r:embed="rId4">
            <a:alphaModFix/>
          </a:blip>
          <a:srcRect b="8357" l="0" r="0" t="0"/>
          <a:stretch/>
        </p:blipFill>
        <p:spPr>
          <a:xfrm>
            <a:off x="4524520" y="1011250"/>
            <a:ext cx="3019825" cy="280459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a0d244dc93_0_915"/>
          <p:cNvSpPr/>
          <p:nvPr/>
        </p:nvSpPr>
        <p:spPr>
          <a:xfrm>
            <a:off x="392422" y="3768705"/>
            <a:ext cx="73260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9350" lIns="78725" spcFirstLastPara="1" rIns="78725" wrap="square" tIns="39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7"/>
              <a:buFont typeface="Calibri"/>
              <a:buNone/>
            </a:pPr>
            <a:r>
              <a:rPr b="0" i="0" lang="en-US" sz="947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https://dsp.stackexchange.com/questions/24900/translation-invariance-in-max-pooling-and-cascading-with-convolutional-layer</a:t>
            </a:r>
            <a:endParaRPr b="0" i="0" sz="9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" name="Google Shape;325;g3a0d244dc93_0_915"/>
          <p:cNvGrpSpPr/>
          <p:nvPr/>
        </p:nvGrpSpPr>
        <p:grpSpPr>
          <a:xfrm>
            <a:off x="3498373" y="2005284"/>
            <a:ext cx="949511" cy="589679"/>
            <a:chOff x="4732256" y="4490466"/>
            <a:chExt cx="1102800" cy="684877"/>
          </a:xfrm>
        </p:grpSpPr>
        <p:sp>
          <p:nvSpPr>
            <p:cNvPr id="326" name="Google Shape;326;g3a0d244dc93_0_915"/>
            <p:cNvSpPr/>
            <p:nvPr/>
          </p:nvSpPr>
          <p:spPr>
            <a:xfrm>
              <a:off x="4732256" y="4798243"/>
              <a:ext cx="1102800" cy="377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39350" lIns="78725" spcFirstLastPara="1" rIns="78725" wrap="square" tIns="39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5"/>
                <a:buFont typeface="Calibri"/>
                <a:buNone/>
              </a:pPr>
              <a:r>
                <a:t/>
              </a:r>
              <a:endParaRPr b="0" i="0" sz="120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g3a0d244dc93_0_915"/>
            <p:cNvSpPr txBox="1"/>
            <p:nvPr/>
          </p:nvSpPr>
          <p:spPr>
            <a:xfrm>
              <a:off x="4785440" y="4490466"/>
              <a:ext cx="931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350" lIns="78725" spcFirstLastPara="1" rIns="78725" wrap="square" tIns="393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5"/>
                <a:buFont typeface="Calibri"/>
                <a:buNone/>
              </a:pPr>
              <a:r>
                <a:rPr b="0" i="0" lang="en-US" sz="1205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Max Pool</a:t>
              </a:r>
              <a:endParaRPr sz="15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g3a0d244dc93_0_915"/>
          <p:cNvGrpSpPr/>
          <p:nvPr/>
        </p:nvGrpSpPr>
        <p:grpSpPr>
          <a:xfrm>
            <a:off x="7532260" y="1150206"/>
            <a:ext cx="1540433" cy="2548646"/>
            <a:chOff x="9417375" y="3497344"/>
            <a:chExt cx="1789121" cy="2960100"/>
          </a:xfrm>
        </p:grpSpPr>
        <p:sp>
          <p:nvSpPr>
            <p:cNvPr id="329" name="Google Shape;329;g3a0d244dc93_0_915"/>
            <p:cNvSpPr/>
            <p:nvPr/>
          </p:nvSpPr>
          <p:spPr>
            <a:xfrm>
              <a:off x="9417375" y="3497344"/>
              <a:ext cx="122400" cy="2960100"/>
            </a:xfrm>
            <a:prstGeom prst="rightBracket">
              <a:avLst>
                <a:gd fmla="val 8333" name="adj"/>
              </a:avLst>
            </a:prstGeom>
            <a:noFill/>
            <a:ln cap="flat" cmpd="sng" w="2460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9350" lIns="78725" spcFirstLastPara="1" rIns="78725" wrap="square" tIns="39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5"/>
                <a:buFont typeface="Calibri"/>
                <a:buNone/>
              </a:pPr>
              <a:r>
                <a:t/>
              </a:r>
              <a:endParaRPr b="0" i="0" sz="120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g3a0d244dc93_0_915"/>
            <p:cNvSpPr txBox="1"/>
            <p:nvPr/>
          </p:nvSpPr>
          <p:spPr>
            <a:xfrm>
              <a:off x="9486896" y="4290411"/>
              <a:ext cx="17196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350" lIns="78725" spcFirstLastPara="1" rIns="78725" wrap="square" tIns="393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722"/>
                <a:buFont typeface="Calibri"/>
                <a:buNone/>
              </a:pPr>
              <a:r>
                <a:rPr b="0" i="0" lang="en-US" sz="1721" u="none" cap="none" strike="noStrike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These are </a:t>
              </a:r>
              <a:r>
                <a:rPr b="1" i="1" lang="en-US" sz="1721" u="none" cap="none" strike="noStrike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r>
                <a:rPr b="0" i="0" lang="en-US" sz="1721" u="none" cap="none" strike="noStrike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all the same!</a:t>
              </a:r>
              <a:endParaRPr sz="15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g3a0d244dc93_0_915"/>
          <p:cNvSpPr txBox="1"/>
          <p:nvPr/>
        </p:nvSpPr>
        <p:spPr>
          <a:xfrm>
            <a:off x="85475" y="4003250"/>
            <a:ext cx="9144000" cy="1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Answer: CNNs are “sort of” translation invariant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Shifting the content of the image around tends not to drastically effect the output classification probabilities...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It is a local operator. Achieves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partial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invariance to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small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translations.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...but they are </a:t>
            </a:r>
            <a:r>
              <a:rPr b="1" i="1" lang="en-US"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, strictly speaking, translation invariant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0d244dc93_0_789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Shift Invariance in CNN</a:t>
            </a:r>
            <a:endParaRPr/>
          </a:p>
        </p:txBody>
      </p:sp>
      <p:sp>
        <p:nvSpPr>
          <p:cNvPr id="338" name="Google Shape;338;g3a0d244dc93_0_78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9" name="Google Shape;339;g3a0d244dc93_0_789" title="1_uZ8kByev1Lc5oiDh2jxr7Q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50" y="834600"/>
            <a:ext cx="7538888" cy="40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0d244dc93_0_822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CNN: Kernel &amp; Filter</a:t>
            </a:r>
            <a:endParaRPr/>
          </a:p>
        </p:txBody>
      </p:sp>
      <p:sp>
        <p:nvSpPr>
          <p:cNvPr id="345" name="Google Shape;345;g3a0d244dc93_0_8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6" name="Google Shape;346;g3a0d244dc93_0_8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25" y="830650"/>
            <a:ext cx="50101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a0d244dc93_0_8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5275" y="1305388"/>
            <a:ext cx="3676649" cy="270813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a0d244dc93_0_822"/>
          <p:cNvSpPr txBox="1"/>
          <p:nvPr/>
        </p:nvSpPr>
        <p:spPr>
          <a:xfrm>
            <a:off x="944225" y="4621700"/>
            <a:ext cx="252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Convolutional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g3a0d244dc93_0_822"/>
          <p:cNvSpPr txBox="1"/>
          <p:nvPr/>
        </p:nvSpPr>
        <p:spPr>
          <a:xfrm>
            <a:off x="5999050" y="4621700"/>
            <a:ext cx="252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Pooling Layer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0d244dc93_0_718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Stride</a:t>
            </a:r>
            <a:endParaRPr/>
          </a:p>
        </p:txBody>
      </p:sp>
      <p:sp>
        <p:nvSpPr>
          <p:cNvPr id="356" name="Google Shape;356;g3a0d244dc93_0_7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g3a0d244dc93_0_718"/>
          <p:cNvSpPr txBox="1"/>
          <p:nvPr/>
        </p:nvSpPr>
        <p:spPr>
          <a:xfrm>
            <a:off x="460952" y="946576"/>
            <a:ext cx="8222100" cy="30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don’t just have to slide the filter by one pixel every time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distance we slide a filter by is called </a:t>
            </a:r>
            <a:r>
              <a:rPr b="1" i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stride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the examples we’ve seen thus far have been stride = 1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8" name="Google Shape;358;g3a0d244dc93_0_718"/>
          <p:cNvGraphicFramePr/>
          <p:nvPr/>
        </p:nvGraphicFramePr>
        <p:xfrm>
          <a:off x="5379464" y="21633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703725"/>
                <a:gridCol w="703725"/>
                <a:gridCol w="703725"/>
                <a:gridCol w="703725"/>
              </a:tblGrid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9" name="Google Shape;359;g3a0d244dc93_0_718"/>
          <p:cNvGraphicFramePr/>
          <p:nvPr/>
        </p:nvGraphicFramePr>
        <p:xfrm>
          <a:off x="838840" y="21633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703725"/>
                <a:gridCol w="703725"/>
                <a:gridCol w="703725"/>
                <a:gridCol w="703725"/>
              </a:tblGrid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9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360" name="Google Shape;360;g3a0d244dc93_0_718"/>
          <p:cNvSpPr/>
          <p:nvPr/>
        </p:nvSpPr>
        <p:spPr>
          <a:xfrm>
            <a:off x="3855464" y="3437530"/>
            <a:ext cx="1308900" cy="35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a0d244dc93_0_718"/>
          <p:cNvSpPr txBox="1"/>
          <p:nvPr/>
        </p:nvSpPr>
        <p:spPr>
          <a:xfrm>
            <a:off x="3963522" y="3081200"/>
            <a:ext cx="109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stride = 1</a:t>
            </a:r>
            <a:endParaRPr/>
          </a:p>
        </p:txBody>
      </p:sp>
      <p:graphicFrame>
        <p:nvGraphicFramePr>
          <p:cNvPr id="362" name="Google Shape;362;g3a0d244dc93_0_718"/>
          <p:cNvGraphicFramePr/>
          <p:nvPr/>
        </p:nvGraphicFramePr>
        <p:xfrm>
          <a:off x="6067904" y="21659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674725"/>
                <a:gridCol w="674725"/>
                <a:gridCol w="770050"/>
              </a:tblGrid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3" name="Google Shape;363;g3a0d244dc93_0_718"/>
          <p:cNvGraphicFramePr/>
          <p:nvPr/>
        </p:nvGraphicFramePr>
        <p:xfrm>
          <a:off x="838840" y="21659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674725"/>
                <a:gridCol w="674725"/>
                <a:gridCol w="770050"/>
              </a:tblGrid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7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b="1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0d244dc93_0_736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Stride</a:t>
            </a:r>
            <a:endParaRPr/>
          </a:p>
        </p:txBody>
      </p:sp>
      <p:sp>
        <p:nvSpPr>
          <p:cNvPr id="370" name="Google Shape;370;g3a0d244dc93_0_7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close up of a logo&#10;&#10;Description automatically generated" id="371" name="Google Shape;371;g3a0d244dc93_0_7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2108" y="1005656"/>
            <a:ext cx="2948927" cy="2888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372" name="Google Shape;372;g3a0d244dc93_0_7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781" y="1031604"/>
            <a:ext cx="2682912" cy="283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a0d244dc93_0_736"/>
          <p:cNvSpPr txBox="1"/>
          <p:nvPr/>
        </p:nvSpPr>
        <p:spPr>
          <a:xfrm>
            <a:off x="201479" y="974360"/>
            <a:ext cx="1069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75" lIns="72975" spcFirstLastPara="1" rIns="72975" wrap="square" tIns="364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6"/>
              <a:buFont typeface="Arial"/>
              <a:buNone/>
            </a:pPr>
            <a:r>
              <a:rPr lang="en-US" sz="19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Stride: 1</a:t>
            </a:r>
            <a:endParaRPr sz="1117"/>
          </a:p>
        </p:txBody>
      </p:sp>
      <p:sp>
        <p:nvSpPr>
          <p:cNvPr id="374" name="Google Shape;374;g3a0d244dc93_0_736"/>
          <p:cNvSpPr txBox="1"/>
          <p:nvPr/>
        </p:nvSpPr>
        <p:spPr>
          <a:xfrm>
            <a:off x="5169296" y="974360"/>
            <a:ext cx="1069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75" lIns="72975" spcFirstLastPara="1" rIns="72975" wrap="square" tIns="364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6"/>
              <a:buFont typeface="Arial"/>
              <a:buNone/>
            </a:pPr>
            <a:r>
              <a:rPr lang="en-US" sz="19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Stride: 2</a:t>
            </a:r>
            <a:endParaRPr sz="1117"/>
          </a:p>
        </p:txBody>
      </p:sp>
      <p:sp>
        <p:nvSpPr>
          <p:cNvPr id="375" name="Google Shape;375;g3a0d244dc93_0_736"/>
          <p:cNvSpPr txBox="1"/>
          <p:nvPr/>
        </p:nvSpPr>
        <p:spPr>
          <a:xfrm>
            <a:off x="7679498" y="963911"/>
            <a:ext cx="1094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75" lIns="72975" spcFirstLastPara="1" rIns="72975" wrap="square" tIns="364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6">
                <a:solidFill>
                  <a:srgbClr val="2AA098"/>
                </a:solidFill>
                <a:latin typeface="Calibri"/>
                <a:ea typeface="Calibri"/>
                <a:cs typeface="Calibri"/>
                <a:sym typeface="Calibri"/>
              </a:rPr>
              <a:t>Output size: 2x2</a:t>
            </a:r>
            <a:endParaRPr sz="1117"/>
          </a:p>
        </p:txBody>
      </p:sp>
      <p:sp>
        <p:nvSpPr>
          <p:cNvPr id="376" name="Google Shape;376;g3a0d244dc93_0_736"/>
          <p:cNvSpPr txBox="1"/>
          <p:nvPr/>
        </p:nvSpPr>
        <p:spPr>
          <a:xfrm>
            <a:off x="7961814" y="3347902"/>
            <a:ext cx="986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75" lIns="72975" spcFirstLastPara="1" rIns="72975" wrap="square" tIns="364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6">
                <a:solidFill>
                  <a:srgbClr val="268AD0"/>
                </a:solidFill>
                <a:latin typeface="Calibri"/>
                <a:ea typeface="Calibri"/>
                <a:cs typeface="Calibri"/>
                <a:sym typeface="Calibri"/>
              </a:rPr>
              <a:t>Input size: 5x5</a:t>
            </a:r>
            <a:endParaRPr sz="1117"/>
          </a:p>
        </p:txBody>
      </p:sp>
      <p:sp>
        <p:nvSpPr>
          <p:cNvPr id="377" name="Google Shape;377;g3a0d244dc93_0_736"/>
          <p:cNvSpPr txBox="1"/>
          <p:nvPr/>
        </p:nvSpPr>
        <p:spPr>
          <a:xfrm>
            <a:off x="3251186" y="967206"/>
            <a:ext cx="1094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75" lIns="72975" spcFirstLastPara="1" rIns="72975" wrap="square" tIns="364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6">
                <a:solidFill>
                  <a:srgbClr val="2AA098"/>
                </a:solidFill>
                <a:latin typeface="Calibri"/>
                <a:ea typeface="Calibri"/>
                <a:cs typeface="Calibri"/>
                <a:sym typeface="Calibri"/>
              </a:rPr>
              <a:t>Output size: 2x2</a:t>
            </a:r>
            <a:endParaRPr sz="1117"/>
          </a:p>
        </p:txBody>
      </p:sp>
      <p:sp>
        <p:nvSpPr>
          <p:cNvPr id="378" name="Google Shape;378;g3a0d244dc93_0_736"/>
          <p:cNvSpPr txBox="1"/>
          <p:nvPr/>
        </p:nvSpPr>
        <p:spPr>
          <a:xfrm>
            <a:off x="2888752" y="3347902"/>
            <a:ext cx="1018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75" lIns="72975" spcFirstLastPara="1" rIns="72975" wrap="square" tIns="364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6">
                <a:solidFill>
                  <a:srgbClr val="268AD0"/>
                </a:solidFill>
                <a:latin typeface="Calibri"/>
                <a:ea typeface="Calibri"/>
                <a:cs typeface="Calibri"/>
                <a:sym typeface="Calibri"/>
              </a:rPr>
              <a:t>Input size: 4x4 </a:t>
            </a:r>
            <a:endParaRPr sz="1117"/>
          </a:p>
        </p:txBody>
      </p:sp>
      <p:sp>
        <p:nvSpPr>
          <p:cNvPr id="379" name="Google Shape;379;g3a0d244dc93_0_736"/>
          <p:cNvSpPr txBox="1"/>
          <p:nvPr/>
        </p:nvSpPr>
        <p:spPr>
          <a:xfrm>
            <a:off x="1660335" y="4226360"/>
            <a:ext cx="63015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75" lIns="72975" spcFirstLastPara="1" rIns="72975" wrap="square" tIns="364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Larger stride turns a bigger input into the same size output</a:t>
            </a:r>
            <a:endParaRPr sz="1117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Corollary</a:t>
            </a:r>
            <a:r>
              <a:rPr lang="en-US" sz="143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Larger stride turns the same size input into a </a:t>
            </a:r>
            <a:r>
              <a:rPr i="1" lang="en-US" sz="143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r>
              <a:rPr lang="en-US" sz="143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output</a:t>
            </a:r>
            <a:endParaRPr sz="1117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6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 this to (controllably) decrease image resolution!</a:t>
            </a:r>
            <a:endParaRPr sz="1117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0d244dc93_0_806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 Architecture</a:t>
            </a:r>
            <a:endParaRPr/>
          </a:p>
        </p:txBody>
      </p:sp>
      <p:sp>
        <p:nvSpPr>
          <p:cNvPr id="386" name="Google Shape;386;g3a0d244dc93_0_80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7" name="Google Shape;387;g3a0d244dc93_0_8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50" y="904250"/>
            <a:ext cx="7609343" cy="407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0d244dc93_0_798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 layers and features</a:t>
            </a:r>
            <a:endParaRPr/>
          </a:p>
        </p:txBody>
      </p:sp>
      <p:sp>
        <p:nvSpPr>
          <p:cNvPr id="394" name="Google Shape;394;g3a0d244dc93_0_79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5" name="Google Shape;395;g3a0d244dc93_0_798"/>
          <p:cNvPicPr preferRelativeResize="0"/>
          <p:nvPr/>
        </p:nvPicPr>
        <p:blipFill rotWithShape="1">
          <a:blip r:embed="rId3">
            <a:alphaModFix/>
          </a:blip>
          <a:srcRect b="0" l="0" r="0" t="26231"/>
          <a:stretch/>
        </p:blipFill>
        <p:spPr>
          <a:xfrm>
            <a:off x="828700" y="947075"/>
            <a:ext cx="7486597" cy="414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0d244dc93_0_814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CNN: Learning features</a:t>
            </a:r>
            <a:endParaRPr/>
          </a:p>
        </p:txBody>
      </p:sp>
      <p:sp>
        <p:nvSpPr>
          <p:cNvPr id="402" name="Google Shape;402;g3a0d244dc93_0_8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3" name="Google Shape;403;g3a0d244dc93_0_8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88" y="952300"/>
            <a:ext cx="6829425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0d244dc93_0_896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Padding</a:t>
            </a:r>
            <a:endParaRPr/>
          </a:p>
        </p:txBody>
      </p:sp>
      <p:sp>
        <p:nvSpPr>
          <p:cNvPr id="410" name="Google Shape;410;g3a0d244dc93_0_89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11" name="Google Shape;411;g3a0d244dc93_0_896"/>
          <p:cNvGraphicFramePr/>
          <p:nvPr/>
        </p:nvGraphicFramePr>
        <p:xfrm>
          <a:off x="370747" y="2072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726275"/>
                <a:gridCol w="726275"/>
                <a:gridCol w="726275"/>
                <a:gridCol w="726275"/>
              </a:tblGrid>
              <a:tr h="67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7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7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67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b="1" lang="en-US" sz="3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412" name="Google Shape;412;g3a0d244dc93_0_896"/>
          <p:cNvSpPr txBox="1"/>
          <p:nvPr/>
        </p:nvSpPr>
        <p:spPr>
          <a:xfrm>
            <a:off x="805793" y="1156000"/>
            <a:ext cx="22245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Filter only slides over “Valid” regions of the data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a0d244dc93_0_896"/>
          <p:cNvSpPr txBox="1"/>
          <p:nvPr/>
        </p:nvSpPr>
        <p:spPr>
          <a:xfrm>
            <a:off x="5335100" y="678625"/>
            <a:ext cx="33486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Filter slides over the bounds of the data, ensuring output size is the “Same” as input size (when stride = 1)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4" name="Google Shape;414;g3a0d244dc93_0_896"/>
          <p:cNvGraphicFramePr/>
          <p:nvPr/>
        </p:nvGraphicFramePr>
        <p:xfrm>
          <a:off x="5335090" y="18405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{381D43BA-6141-4454-86F5-6EDCB21AD3FA}</a:tableStyleId>
              </a:tblPr>
              <a:tblGrid>
                <a:gridCol w="558100"/>
                <a:gridCol w="558100"/>
                <a:gridCol w="558100"/>
                <a:gridCol w="558100"/>
                <a:gridCol w="558100"/>
                <a:gridCol w="558100"/>
              </a:tblGrid>
              <a:tr h="43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a0d244dc93_0_908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Hands on: Image Classification</a:t>
            </a:r>
            <a:endParaRPr/>
          </a:p>
        </p:txBody>
      </p:sp>
      <p:sp>
        <p:nvSpPr>
          <p:cNvPr id="421" name="Google Shape;421;g3a0d244dc93_0_90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2" name="Google Shape;422;g3a0d244dc93_0_9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6475" y="846850"/>
            <a:ext cx="4251043" cy="407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0d244dc93_0_934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CNN: Seismic Image to Soil Profile</a:t>
            </a:r>
            <a:endParaRPr/>
          </a:p>
        </p:txBody>
      </p:sp>
      <p:sp>
        <p:nvSpPr>
          <p:cNvPr id="429" name="Google Shape;429;g3a0d244dc93_0_9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0" name="Google Shape;430;g3a0d244dc93_0_9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713" y="956750"/>
            <a:ext cx="3990570" cy="40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a0d244dc93_0_934"/>
          <p:cNvSpPr txBox="1"/>
          <p:nvPr/>
        </p:nvSpPr>
        <p:spPr>
          <a:xfrm>
            <a:off x="6567275" y="4396165"/>
            <a:ext cx="346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Abbas et al., (2022)</a:t>
            </a:r>
            <a:endParaRPr sz="13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0d244dc93_0_944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CNN: FWI</a:t>
            </a:r>
            <a:endParaRPr/>
          </a:p>
        </p:txBody>
      </p:sp>
      <p:sp>
        <p:nvSpPr>
          <p:cNvPr id="438" name="Google Shape;438;g3a0d244dc93_0_9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9" name="Google Shape;439;g3a0d244dc93_0_9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350" y="956750"/>
            <a:ext cx="6237296" cy="407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0d244dc93_0_952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 Architecture</a:t>
            </a:r>
            <a:endParaRPr/>
          </a:p>
        </p:txBody>
      </p:sp>
      <p:sp>
        <p:nvSpPr>
          <p:cNvPr id="446" name="Google Shape;446;g3a0d244dc93_0_95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7" name="Google Shape;447;g3a0d244dc93_0_9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50" y="920100"/>
            <a:ext cx="8085389" cy="362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0d244dc93_0_168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Building damage classifier - an explanation</a:t>
            </a:r>
            <a:endParaRPr/>
          </a:p>
        </p:txBody>
      </p:sp>
      <p:sp>
        <p:nvSpPr>
          <p:cNvPr id="453" name="Google Shape;453;g3a0d244dc93_0_16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4" name="Google Shape;454;g3a0d244dc93_0_168"/>
          <p:cNvPicPr preferRelativeResize="0"/>
          <p:nvPr/>
        </p:nvPicPr>
        <p:blipFill rotWithShape="1">
          <a:blip r:embed="rId3">
            <a:alphaModFix/>
          </a:blip>
          <a:srcRect b="0" l="0" r="31408" t="0"/>
          <a:stretch/>
        </p:blipFill>
        <p:spPr>
          <a:xfrm>
            <a:off x="2916063" y="890550"/>
            <a:ext cx="2457725" cy="24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a0d244dc93_0_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025" y="870350"/>
            <a:ext cx="1878301" cy="2504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a0d244dc93_0_168"/>
          <p:cNvPicPr preferRelativeResize="0"/>
          <p:nvPr/>
        </p:nvPicPr>
        <p:blipFill rotWithShape="1">
          <a:blip r:embed="rId5">
            <a:alphaModFix/>
          </a:blip>
          <a:srcRect b="0" l="26627" r="0" t="0"/>
          <a:stretch/>
        </p:blipFill>
        <p:spPr>
          <a:xfrm>
            <a:off x="6308525" y="890575"/>
            <a:ext cx="2629001" cy="238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g3a0d244dc93_0_168"/>
          <p:cNvSpPr txBox="1"/>
          <p:nvPr/>
        </p:nvSpPr>
        <p:spPr>
          <a:xfrm>
            <a:off x="324925" y="3629775"/>
            <a:ext cx="119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Undamaged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g3a0d244dc93_0_168"/>
          <p:cNvSpPr txBox="1"/>
          <p:nvPr/>
        </p:nvSpPr>
        <p:spPr>
          <a:xfrm>
            <a:off x="3178024" y="3629775"/>
            <a:ext cx="19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Partially-damaged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g3a0d244dc93_0_168"/>
          <p:cNvSpPr txBox="1"/>
          <p:nvPr/>
        </p:nvSpPr>
        <p:spPr>
          <a:xfrm>
            <a:off x="6640224" y="3629775"/>
            <a:ext cx="19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Completely-destroyed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a0d244dc93_0_179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Explaining a building image classifier</a:t>
            </a:r>
            <a:endParaRPr/>
          </a:p>
        </p:txBody>
      </p:sp>
      <p:sp>
        <p:nvSpPr>
          <p:cNvPr id="465" name="Google Shape;465;g3a0d244dc93_0_17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6" name="Google Shape;466;g3a0d244dc93_0_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00" y="1469752"/>
            <a:ext cx="4332425" cy="288119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a0d244dc93_0_179"/>
          <p:cNvSpPr txBox="1"/>
          <p:nvPr/>
        </p:nvSpPr>
        <p:spPr>
          <a:xfrm>
            <a:off x="4572000" y="4398575"/>
            <a:ext cx="338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Predicted class: General Collapse</a:t>
            </a:r>
            <a:endParaRPr/>
          </a:p>
        </p:txBody>
      </p:sp>
      <p:pic>
        <p:nvPicPr>
          <p:cNvPr id="468" name="Google Shape;468;g3a0d244dc93_0_1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69751"/>
            <a:ext cx="4417776" cy="288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9" name="Google Shape;469;g3a0d244dc93_0_179"/>
          <p:cNvCxnSpPr/>
          <p:nvPr/>
        </p:nvCxnSpPr>
        <p:spPr>
          <a:xfrm flipH="1">
            <a:off x="2143200" y="1200150"/>
            <a:ext cx="1095300" cy="781200"/>
          </a:xfrm>
          <a:prstGeom prst="straightConnector1">
            <a:avLst/>
          </a:prstGeom>
          <a:noFill/>
          <a:ln cap="flat" cmpd="sng" w="38100">
            <a:solidFill>
              <a:srgbClr val="FB002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0" name="Google Shape;470;g3a0d244dc93_0_179"/>
          <p:cNvSpPr txBox="1"/>
          <p:nvPr/>
        </p:nvSpPr>
        <p:spPr>
          <a:xfrm>
            <a:off x="3286125" y="9810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Sky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g3a0d244dc93_0_179"/>
          <p:cNvSpPr txBox="1"/>
          <p:nvPr/>
        </p:nvSpPr>
        <p:spPr>
          <a:xfrm>
            <a:off x="4572000" y="4692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Transfer learning prediction: Ants</a:t>
            </a:r>
            <a:endParaRPr/>
          </a:p>
        </p:txBody>
      </p:sp>
      <p:cxnSp>
        <p:nvCxnSpPr>
          <p:cNvPr id="472" name="Google Shape;472;g3a0d244dc93_0_179"/>
          <p:cNvCxnSpPr/>
          <p:nvPr/>
        </p:nvCxnSpPr>
        <p:spPr>
          <a:xfrm rot="10800000">
            <a:off x="1771813" y="2924219"/>
            <a:ext cx="1251600" cy="1934100"/>
          </a:xfrm>
          <a:prstGeom prst="straightConnector1">
            <a:avLst/>
          </a:prstGeom>
          <a:noFill/>
          <a:ln cap="flat" cmpd="sng" w="38100">
            <a:solidFill>
              <a:srgbClr val="FB002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g3a0d244dc93_0_179"/>
          <p:cNvSpPr txBox="1"/>
          <p:nvPr/>
        </p:nvSpPr>
        <p:spPr>
          <a:xfrm>
            <a:off x="3012825" y="4610100"/>
            <a:ext cx="109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rubble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0d244dc93_0_192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GradCAM Explanation</a:t>
            </a:r>
            <a:endParaRPr/>
          </a:p>
        </p:txBody>
      </p:sp>
      <p:sp>
        <p:nvSpPr>
          <p:cNvPr id="479" name="Google Shape;479;g3a0d244dc93_0_19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0" name="Google Shape;480;g3a0d244dc93_0_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36675"/>
            <a:ext cx="5835151" cy="26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3a0d244dc93_0_192"/>
          <p:cNvSpPr txBox="1"/>
          <p:nvPr/>
        </p:nvSpPr>
        <p:spPr>
          <a:xfrm>
            <a:off x="0" y="4743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http://gradcam.cloudcv.org/</a:t>
            </a:r>
            <a:endParaRPr/>
          </a:p>
        </p:txBody>
      </p:sp>
      <p:pic>
        <p:nvPicPr>
          <p:cNvPr id="482" name="Google Shape;482;g3a0d244dc93_0_1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767700"/>
            <a:ext cx="3180875" cy="1436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3" name="Google Shape;483;g3a0d244dc93_0_192"/>
          <p:cNvGrpSpPr/>
          <p:nvPr/>
        </p:nvGrpSpPr>
        <p:grpSpPr>
          <a:xfrm>
            <a:off x="5904703" y="2136684"/>
            <a:ext cx="3167396" cy="2465194"/>
            <a:chOff x="1146750" y="831562"/>
            <a:chExt cx="6638851" cy="4257675"/>
          </a:xfrm>
        </p:grpSpPr>
        <p:pic>
          <p:nvPicPr>
            <p:cNvPr id="484" name="Google Shape;484;g3a0d244dc93_0_1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57300" y="831574"/>
              <a:ext cx="6528301" cy="425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g3a0d244dc93_0_192"/>
            <p:cNvPicPr preferRelativeResize="0"/>
            <p:nvPr/>
          </p:nvPicPr>
          <p:blipFill rotWithShape="1">
            <a:blip r:embed="rId6">
              <a:alphaModFix amt="41000"/>
            </a:blip>
            <a:srcRect b="3910" l="8324" r="0" t="9576"/>
            <a:stretch/>
          </p:blipFill>
          <p:spPr>
            <a:xfrm rot="10800000">
              <a:off x="1146750" y="831562"/>
              <a:ext cx="6599000" cy="425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6" name="Google Shape;486;g3a0d244dc93_0_192"/>
          <p:cNvGrpSpPr/>
          <p:nvPr/>
        </p:nvGrpSpPr>
        <p:grpSpPr>
          <a:xfrm>
            <a:off x="1475150" y="3786811"/>
            <a:ext cx="592185" cy="579895"/>
            <a:chOff x="1146750" y="831562"/>
            <a:chExt cx="6638851" cy="4257675"/>
          </a:xfrm>
        </p:grpSpPr>
        <p:pic>
          <p:nvPicPr>
            <p:cNvPr id="487" name="Google Shape;487;g3a0d244dc93_0_1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57300" y="831574"/>
              <a:ext cx="6528301" cy="425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g3a0d244dc93_0_192"/>
            <p:cNvPicPr preferRelativeResize="0"/>
            <p:nvPr/>
          </p:nvPicPr>
          <p:blipFill rotWithShape="1">
            <a:blip r:embed="rId6">
              <a:alphaModFix amt="41000"/>
            </a:blip>
            <a:srcRect b="3910" l="8324" r="0" t="9576"/>
            <a:stretch/>
          </p:blipFill>
          <p:spPr>
            <a:xfrm rot="10800000">
              <a:off x="1146750" y="831562"/>
              <a:ext cx="6599000" cy="42576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9" name="Google Shape;489;g3a0d244dc93_0_1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5150" y="2956050"/>
            <a:ext cx="592176" cy="5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g3a0d244dc93_0_192"/>
          <p:cNvSpPr txBox="1"/>
          <p:nvPr/>
        </p:nvSpPr>
        <p:spPr>
          <a:xfrm>
            <a:off x="5286450" y="4075050"/>
            <a:ext cx="5487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a0d244dc93_0_208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Convolutional Neural Network for inverse problem</a:t>
            </a:r>
            <a:endParaRPr sz="2800"/>
          </a:p>
        </p:txBody>
      </p:sp>
      <p:sp>
        <p:nvSpPr>
          <p:cNvPr id="496" name="Google Shape;496;g3a0d244dc93_0_20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7" name="Google Shape;497;g3a0d244dc93_0_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0820"/>
            <a:ext cx="9144003" cy="1852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3a0d244dc93_0_2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137925"/>
            <a:ext cx="4499201" cy="14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3a0d244dc93_0_2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75" y="3137926"/>
            <a:ext cx="4657350" cy="14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a0d244dc93_0_208"/>
          <p:cNvSpPr txBox="1"/>
          <p:nvPr/>
        </p:nvSpPr>
        <p:spPr>
          <a:xfrm>
            <a:off x="1640525" y="4590875"/>
            <a:ext cx="11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True Model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g3a0d244dc93_0_208"/>
          <p:cNvSpPr txBox="1"/>
          <p:nvPr/>
        </p:nvSpPr>
        <p:spPr>
          <a:xfrm>
            <a:off x="6227150" y="4566625"/>
            <a:ext cx="11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Predictions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a0d244dc93_0_218"/>
          <p:cNvSpPr/>
          <p:nvPr/>
        </p:nvSpPr>
        <p:spPr>
          <a:xfrm>
            <a:off x="7848850" y="3849200"/>
            <a:ext cx="786900" cy="393600"/>
          </a:xfrm>
          <a:prstGeom prst="star7">
            <a:avLst>
              <a:gd fmla="val 34601" name="adj"/>
              <a:gd fmla="val 102572" name="hf"/>
              <a:gd fmla="val 105210" name="vf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a0d244dc93_0_218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design a CNN</a:t>
            </a:r>
            <a:endParaRPr/>
          </a:p>
        </p:txBody>
      </p:sp>
      <p:sp>
        <p:nvSpPr>
          <p:cNvPr id="508" name="Google Shape;508;g3a0d244dc93_0_2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9" name="Google Shape;509;g3a0d244dc93_0_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0820"/>
            <a:ext cx="9144003" cy="1852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g3a0d244dc93_0_2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950" y="2865956"/>
            <a:ext cx="3577250" cy="21549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1" name="Google Shape;511;g3a0d244dc93_0_218"/>
          <p:cNvGraphicFramePr/>
          <p:nvPr/>
        </p:nvGraphicFramePr>
        <p:xfrm>
          <a:off x="4744700" y="345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{154A8317-BDE1-4527-A689-9862FD0966E3}</a:tableStyleId>
              </a:tblPr>
              <a:tblGrid>
                <a:gridCol w="1168525"/>
                <a:gridCol w="1576450"/>
                <a:gridCol w="1582575"/>
              </a:tblGrid>
              <a:tr h="3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MAPE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Kernel Size: 3x1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Kernel Size: 3x3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Deep (5)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11.3 %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8.5 %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Shallow (3)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12.1 %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11.2 %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a0d244dc93_0_227"/>
          <p:cNvSpPr txBox="1"/>
          <p:nvPr>
            <p:ph type="title"/>
          </p:nvPr>
        </p:nvSpPr>
        <p:spPr>
          <a:xfrm>
            <a:off x="460950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Designing a neural network with explainability</a:t>
            </a:r>
            <a:endParaRPr sz="3000"/>
          </a:p>
        </p:txBody>
      </p:sp>
      <p:sp>
        <p:nvSpPr>
          <p:cNvPr id="517" name="Google Shape;517;g3a0d244dc93_0_22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8" name="Google Shape;518;g3a0d244dc93_0_227"/>
          <p:cNvPicPr preferRelativeResize="0"/>
          <p:nvPr/>
        </p:nvPicPr>
        <p:blipFill rotWithShape="1">
          <a:blip r:embed="rId3">
            <a:alphaModFix/>
          </a:blip>
          <a:srcRect b="0" l="36516" r="0" t="0"/>
          <a:stretch/>
        </p:blipFill>
        <p:spPr>
          <a:xfrm>
            <a:off x="2892275" y="690275"/>
            <a:ext cx="4763525" cy="222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g3a0d244dc93_0_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400" y="2838100"/>
            <a:ext cx="5290130" cy="225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3a0d244dc93_0_227"/>
          <p:cNvPicPr preferRelativeResize="0"/>
          <p:nvPr/>
        </p:nvPicPr>
        <p:blipFill rotWithShape="1">
          <a:blip r:embed="rId3">
            <a:alphaModFix/>
          </a:blip>
          <a:srcRect b="0" l="0" r="63484" t="0"/>
          <a:stretch/>
        </p:blipFill>
        <p:spPr>
          <a:xfrm>
            <a:off x="152400" y="689050"/>
            <a:ext cx="2739874" cy="22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6-9 White Backgrou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2011-06-30T15:04:08Z</dcterms:created>
  <dc:creator>University Marketing and Creative Services</dc:creator>
</cp:coreProperties>
</file>